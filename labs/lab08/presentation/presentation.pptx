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9" r:id="rId4"/>
    <p:sldId id="262" r:id="rId5"/>
    <p:sldId id="273" r:id="rId6"/>
    <p:sldId id="274" r:id="rId7"/>
    <p:sldId id="275" r:id="rId8"/>
    <p:sldId id="276" r:id="rId9"/>
    <p:sldId id="277" r:id="rId10"/>
    <p:sldId id="278" r:id="rId11"/>
    <p:sldId id="27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D80608-14D1-4C76-9F62-91152B5CD37A}" v="58" dt="2026-10-07T15:04:04.7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22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75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37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1226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073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737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205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85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42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04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31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967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135" y="758952"/>
            <a:ext cx="11602065" cy="3566160"/>
          </a:xfrm>
        </p:spPr>
        <p:txBody>
          <a:bodyPr>
            <a:normAutofit/>
          </a:bodyPr>
          <a:lstStyle/>
          <a:p>
            <a:r>
              <a:rPr lang="ru-RU" b="1" dirty="0"/>
              <a:t>Лабораторная работа №8</a:t>
            </a:r>
            <a:br>
              <a:rPr lang="ru-RU" b="1" dirty="0"/>
            </a:br>
            <a:r>
              <a:rPr lang="ru-RU" b="1" dirty="0"/>
              <a:t> </a:t>
            </a:r>
            <a:r>
              <a:rPr lang="ru-RU" sz="3100" b="1" dirty="0"/>
              <a:t>Математическое моделирование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068" y="4653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 </a:t>
            </a:r>
            <a:r>
              <a:rPr lang="ru-RU" dirty="0" err="1"/>
              <a:t>никита</a:t>
            </a:r>
            <a:r>
              <a:rPr lang="ru-RU" dirty="0"/>
              <a:t> 1132230298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071" y="2148763"/>
            <a:ext cx="7729728" cy="3101983"/>
          </a:xfrm>
        </p:spPr>
        <p:txBody>
          <a:bodyPr/>
          <a:lstStyle/>
          <a:p>
            <a:r>
              <a:rPr lang="ru-RU" dirty="0"/>
              <a:t>Целью лабораторной работы является исследование математической модели</a:t>
            </a:r>
          </a:p>
          <a:p>
            <a:r>
              <a:rPr lang="ru-RU" dirty="0"/>
              <a:t>конкуренции двух фирм с помощью численного решения системы обыкновенных</a:t>
            </a:r>
          </a:p>
          <a:p>
            <a:r>
              <a:rPr lang="ru-RU" dirty="0"/>
              <a:t>дифференциальных уравнений и построения графиков изменения их оборотных</a:t>
            </a:r>
          </a:p>
          <a:p>
            <a:r>
              <a:rPr lang="ru-RU" dirty="0"/>
              <a:t>средств.</a:t>
            </a:r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7BECA-E840-6617-E8A6-0F258CBDC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Задачи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ED3936-E976-FA50-7AB2-BE6D49B80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r>
              <a:rPr lang="ru-RU" dirty="0"/>
              <a:t>1. Придумайте свой пример двух конкурирующих фирм с идентичным</a:t>
            </a:r>
          </a:p>
          <a:p>
            <a:r>
              <a:rPr lang="ru-RU" dirty="0"/>
              <a:t>товаром. Задайте начальные значения и известные составляющие. Постройте</a:t>
            </a:r>
          </a:p>
          <a:p>
            <a:r>
              <a:rPr lang="ru-RU" dirty="0"/>
              <a:t>графики изменения объемов оборотных средств каждой фирмы. Рассмотрите</a:t>
            </a:r>
          </a:p>
          <a:p>
            <a:r>
              <a:rPr lang="ru-RU" dirty="0"/>
              <a:t>два случая.</a:t>
            </a:r>
          </a:p>
          <a:p>
            <a:r>
              <a:rPr lang="ru-RU" dirty="0"/>
              <a:t>2. Проанализируйте полученные результаты.</a:t>
            </a:r>
          </a:p>
          <a:p>
            <a:r>
              <a:rPr lang="ru-RU" dirty="0"/>
              <a:t>3. Найдите стационарное состояние системы для первого случая.</a:t>
            </a:r>
          </a:p>
        </p:txBody>
      </p:sp>
    </p:spTree>
    <p:extLst>
      <p:ext uri="{BB962C8B-B14F-4D97-AF65-F5344CB8AC3E}">
        <p14:creationId xmlns:p14="http://schemas.microsoft.com/office/powerpoint/2010/main" val="1751723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EF604-B7AC-3050-7B7D-98387F2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Исходные данные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4547B48-987D-8DBE-820A-F8C2E4FC4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697" y="2198914"/>
            <a:ext cx="10301045" cy="3670180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M₁(0) = 5.4</a:t>
            </a:r>
            <a:br>
              <a:rPr lang="ru-RU" dirty="0"/>
            </a:br>
            <a:r>
              <a:rPr lang="ru-RU" dirty="0"/>
              <a:t>M₂(0) = 5.1</a:t>
            </a:r>
          </a:p>
          <a:p>
            <a:r>
              <a:rPr lang="ru-RU" b="1" dirty="0"/>
              <a:t>Параметры варианта 49:</a:t>
            </a:r>
            <a:endParaRPr lang="ru-RU" dirty="0"/>
          </a:p>
          <a:p>
            <a:r>
              <a:rPr lang="ru-RU" dirty="0" err="1"/>
              <a:t>p_cr</a:t>
            </a:r>
            <a:r>
              <a:rPr lang="ru-RU" dirty="0"/>
              <a:t> = 27</a:t>
            </a:r>
            <a:br>
              <a:rPr lang="ru-RU" dirty="0"/>
            </a:br>
            <a:r>
              <a:rPr lang="ru-RU" dirty="0"/>
              <a:t>N = 30</a:t>
            </a:r>
            <a:br>
              <a:rPr lang="ru-RU" dirty="0"/>
            </a:br>
            <a:r>
              <a:rPr lang="ru-RU" dirty="0"/>
              <a:t>q = 1</a:t>
            </a:r>
            <a:br>
              <a:rPr lang="ru-RU" dirty="0"/>
            </a:br>
            <a:r>
              <a:rPr lang="ru-RU" dirty="0"/>
              <a:t>τ₁ = 8</a:t>
            </a:r>
            <a:br>
              <a:rPr lang="ru-RU" dirty="0"/>
            </a:br>
            <a:r>
              <a:rPr lang="ru-RU" dirty="0"/>
              <a:t>τ₂ = 9</a:t>
            </a:r>
            <a:br>
              <a:rPr lang="ru-RU" dirty="0"/>
            </a:br>
            <a:r>
              <a:rPr lang="ru-RU" dirty="0"/>
              <a:t>p₁ = 13</a:t>
            </a:r>
            <a:br>
              <a:rPr lang="ru-RU" dirty="0"/>
            </a:br>
            <a:r>
              <a:rPr lang="ru-RU" dirty="0"/>
              <a:t>p₂ = 10.1</a:t>
            </a:r>
          </a:p>
          <a:p>
            <a:r>
              <a:rPr lang="ru-RU" b="1" dirty="0"/>
              <a:t>Дополнительный коэффициент для случая 2:</a:t>
            </a:r>
            <a:endParaRPr lang="ru-RU" dirty="0"/>
          </a:p>
          <a:p>
            <a:r>
              <a:rPr lang="ru-RU" dirty="0"/>
              <a:t>κ = 0.00029</a:t>
            </a:r>
          </a:p>
          <a:p>
            <a:r>
              <a:rPr lang="ru-RU" b="1" dirty="0"/>
              <a:t>Интервал моделирования:</a:t>
            </a:r>
            <a:endParaRPr lang="ru-RU" dirty="0"/>
          </a:p>
          <a:p>
            <a:r>
              <a:rPr lang="ru-RU" dirty="0"/>
              <a:t>0 ≤ θ ≤ 30</a:t>
            </a:r>
          </a:p>
        </p:txBody>
      </p:sp>
    </p:spTree>
    <p:extLst>
      <p:ext uri="{BB962C8B-B14F-4D97-AF65-F5344CB8AC3E}">
        <p14:creationId xmlns:p14="http://schemas.microsoft.com/office/powerpoint/2010/main" val="2190278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30E5C-053F-5A6F-E3BA-A39AAE9A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FBF2C0-4AFA-1B45-8A5D-D8CB79CD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B128762-501C-A13D-39B2-FC9DA6390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Система уравнений:</a:t>
            </a:r>
            <a:endParaRPr lang="ru-RU" dirty="0"/>
          </a:p>
          <a:p>
            <a:r>
              <a:rPr lang="ru-RU" dirty="0" err="1"/>
              <a:t>dM</a:t>
            </a:r>
            <a:r>
              <a:rPr lang="ru-RU" dirty="0"/>
              <a:t>₁/</a:t>
            </a:r>
            <a:r>
              <a:rPr lang="ru-RU" dirty="0" err="1"/>
              <a:t>dθ</a:t>
            </a:r>
            <a:r>
              <a:rPr lang="ru-RU" dirty="0"/>
              <a:t> = M₁ − (b/c₁)M₁M₂ − (a₁/c₁)M₁²</a:t>
            </a:r>
          </a:p>
          <a:p>
            <a:r>
              <a:rPr lang="ru-RU" dirty="0" err="1"/>
              <a:t>dM</a:t>
            </a:r>
            <a:r>
              <a:rPr lang="ru-RU" dirty="0"/>
              <a:t>₂/</a:t>
            </a:r>
            <a:r>
              <a:rPr lang="ru-RU" dirty="0" err="1"/>
              <a:t>dθ</a:t>
            </a:r>
            <a:r>
              <a:rPr lang="ru-RU" dirty="0"/>
              <a:t> = (c₂/c₁)M₂ − (b/c₁)M₁M₂ − (a₂/c₁)M₂²</a:t>
            </a:r>
          </a:p>
          <a:p>
            <a:r>
              <a:rPr lang="ru-RU" b="1" dirty="0"/>
              <a:t>Коэффициенты:</a:t>
            </a:r>
            <a:endParaRPr lang="ru-RU" dirty="0"/>
          </a:p>
          <a:p>
            <a:r>
              <a:rPr lang="ru-RU" dirty="0"/>
              <a:t>a₁ = </a:t>
            </a:r>
            <a:r>
              <a:rPr lang="ru-RU" dirty="0" err="1"/>
              <a:t>p_cr</a:t>
            </a:r>
            <a:r>
              <a:rPr lang="ru-RU" dirty="0"/>
              <a:t>/(τ₁²p₁²Nq)</a:t>
            </a:r>
          </a:p>
          <a:p>
            <a:r>
              <a:rPr lang="ru-RU" dirty="0"/>
              <a:t>a₂ = </a:t>
            </a:r>
            <a:r>
              <a:rPr lang="ru-RU" dirty="0" err="1"/>
              <a:t>p_cr</a:t>
            </a:r>
            <a:r>
              <a:rPr lang="ru-RU" dirty="0"/>
              <a:t>/(τ₂²p₂²Nq)</a:t>
            </a:r>
          </a:p>
          <a:p>
            <a:r>
              <a:rPr lang="ru-RU" dirty="0"/>
              <a:t>b = </a:t>
            </a:r>
            <a:r>
              <a:rPr lang="ru-RU" dirty="0" err="1"/>
              <a:t>p_cr</a:t>
            </a:r>
            <a:r>
              <a:rPr lang="ru-RU" dirty="0"/>
              <a:t>/(τ₁²τ₂²p₁²p₂²Nq)</a:t>
            </a:r>
          </a:p>
          <a:p>
            <a:r>
              <a:rPr lang="ru-RU" dirty="0"/>
              <a:t>c₁ = (</a:t>
            </a:r>
            <a:r>
              <a:rPr lang="ru-RU" dirty="0" err="1"/>
              <a:t>p_cr</a:t>
            </a:r>
            <a:r>
              <a:rPr lang="ru-RU" dirty="0"/>
              <a:t> − p₁)/(</a:t>
            </a:r>
            <a:r>
              <a:rPr lang="ru-RU" dirty="0" err="1"/>
              <a:t>τ₁p</a:t>
            </a:r>
            <a:r>
              <a:rPr lang="ru-RU" dirty="0"/>
              <a:t>₁)</a:t>
            </a:r>
          </a:p>
          <a:p>
            <a:r>
              <a:rPr lang="ru-RU" dirty="0"/>
              <a:t>c₂ = (</a:t>
            </a:r>
            <a:r>
              <a:rPr lang="ru-RU" dirty="0" err="1"/>
              <a:t>p_cr</a:t>
            </a:r>
            <a:r>
              <a:rPr lang="ru-RU" dirty="0"/>
              <a:t> − p₂)/(</a:t>
            </a:r>
            <a:r>
              <a:rPr lang="ru-RU" dirty="0" err="1"/>
              <a:t>τ₂p</a:t>
            </a:r>
            <a:r>
              <a:rPr lang="ru-RU" dirty="0"/>
              <a:t>₂)</a:t>
            </a:r>
          </a:p>
        </p:txBody>
      </p:sp>
    </p:spTree>
    <p:extLst>
      <p:ext uri="{BB962C8B-B14F-4D97-AF65-F5344CB8AC3E}">
        <p14:creationId xmlns:p14="http://schemas.microsoft.com/office/powerpoint/2010/main" val="732051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81069-BBE0-528B-73FE-2B71B19E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E67355-ED20-8E73-C497-0893DC31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Случай 1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685A50-B2E6-9DAB-9156-48EF292FF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Взаимодействие фирм определяется только экономическими факторами.</a:t>
            </a:r>
          </a:p>
          <a:p>
            <a:r>
              <a:rPr lang="ru-RU" dirty="0"/>
              <a:t>Для решения системы использован пакет </a:t>
            </a:r>
            <a:r>
              <a:rPr lang="ru-RU" b="1" dirty="0" err="1"/>
              <a:t>DifferentialEquations.jl</a:t>
            </a:r>
            <a:r>
              <a:rPr lang="ru-RU" dirty="0"/>
              <a:t> и численный метод </a:t>
            </a:r>
            <a:r>
              <a:rPr lang="ru-RU" b="1" dirty="0"/>
              <a:t>Tsit5</a:t>
            </a:r>
            <a:r>
              <a:rPr lang="ru-RU" dirty="0"/>
              <a:t>.</a:t>
            </a:r>
          </a:p>
          <a:p>
            <a:r>
              <a:rPr lang="ru-RU" b="1" dirty="0"/>
              <a:t>Начальные условия:</a:t>
            </a:r>
            <a:endParaRPr lang="ru-RU" dirty="0"/>
          </a:p>
          <a:p>
            <a:r>
              <a:rPr lang="ru-RU" dirty="0"/>
              <a:t>M₁(0) = 5.4</a:t>
            </a:r>
            <a:br>
              <a:rPr lang="ru-RU" dirty="0"/>
            </a:br>
            <a:r>
              <a:rPr lang="ru-RU" dirty="0"/>
              <a:t>M₂(0) = 5.1</a:t>
            </a:r>
          </a:p>
          <a:p>
            <a:r>
              <a:rPr lang="ru-RU" b="1" dirty="0"/>
              <a:t>Результат:</a:t>
            </a:r>
            <a:endParaRPr lang="ru-RU" dirty="0"/>
          </a:p>
          <a:p>
            <a:r>
              <a:rPr lang="ru-RU" dirty="0"/>
              <a:t>M₁(30) ≈ 1617.57</a:t>
            </a:r>
            <a:br>
              <a:rPr lang="ru-RU" dirty="0"/>
            </a:br>
            <a:r>
              <a:rPr lang="ru-RU" dirty="0"/>
              <a:t>M₂(30) ≈ 1706.75</a:t>
            </a:r>
          </a:p>
        </p:txBody>
      </p:sp>
    </p:spTree>
    <p:extLst>
      <p:ext uri="{BB962C8B-B14F-4D97-AF65-F5344CB8AC3E}">
        <p14:creationId xmlns:p14="http://schemas.microsoft.com/office/powerpoint/2010/main" val="4176172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858ED-100F-B97E-8D3D-26AD1E866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373F7-1D26-E9A2-E23C-066AEC142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Случай 2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CC53404-2021-B975-D678-2249043BB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модель дополнительно введён социально-психологический фактор:</a:t>
            </a:r>
          </a:p>
          <a:p>
            <a:r>
              <a:rPr lang="ru-RU" dirty="0"/>
              <a:t>κ = 0.00029</a:t>
            </a:r>
          </a:p>
          <a:p>
            <a:r>
              <a:rPr lang="ru-RU" dirty="0"/>
              <a:t>Первое уравнение изменяется:</a:t>
            </a:r>
          </a:p>
          <a:p>
            <a:r>
              <a:rPr lang="ru-RU" dirty="0" err="1"/>
              <a:t>dM</a:t>
            </a:r>
            <a:r>
              <a:rPr lang="ru-RU" dirty="0"/>
              <a:t>₁/</a:t>
            </a:r>
            <a:r>
              <a:rPr lang="ru-RU" dirty="0" err="1"/>
              <a:t>dθ</a:t>
            </a:r>
            <a:r>
              <a:rPr lang="ru-RU" dirty="0"/>
              <a:t> = M₁ − (B + κ)M₁M₂ − A₁M₁²</a:t>
            </a:r>
          </a:p>
          <a:p>
            <a:r>
              <a:rPr lang="ru-RU" dirty="0"/>
              <a:t>Второе уравнение остаётся без изменения:</a:t>
            </a:r>
          </a:p>
          <a:p>
            <a:r>
              <a:rPr lang="ru-RU" dirty="0" err="1"/>
              <a:t>dM</a:t>
            </a:r>
            <a:r>
              <a:rPr lang="ru-RU" dirty="0"/>
              <a:t>₂/</a:t>
            </a:r>
            <a:r>
              <a:rPr lang="ru-RU" dirty="0" err="1"/>
              <a:t>dθ</a:t>
            </a:r>
            <a:r>
              <a:rPr lang="ru-RU" dirty="0"/>
              <a:t> = C₂M₂ − BM₁M₂ − A₂M₂²</a:t>
            </a:r>
          </a:p>
          <a:p>
            <a:r>
              <a:rPr lang="ru-RU" b="1" dirty="0"/>
              <a:t>Результаты при θ = 30:</a:t>
            </a:r>
            <a:endParaRPr lang="ru-RU" dirty="0"/>
          </a:p>
          <a:p>
            <a:r>
              <a:rPr lang="ru-RU" dirty="0"/>
              <a:t>M₁(30) ≈ 816.8</a:t>
            </a:r>
            <a:br>
              <a:rPr lang="ru-RU" dirty="0"/>
            </a:br>
            <a:r>
              <a:rPr lang="ru-RU" dirty="0"/>
              <a:t>M₂(30) ≈ 1706.8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1055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B7F8D-4CA4-B215-0C80-A959B4515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BB426-ABB7-03B0-8373-0418D666F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F57F2D51-7B05-8CDF-60D7-33BC7AAFE9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906" y="1846263"/>
            <a:ext cx="2726513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226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53864-EC03-4ED0-3DF0-AA17F2778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CB95D3-7CD2-2388-585C-DA84B6B66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F1B2B92D-16F9-7ED0-97CD-F52ECE203C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413" y="2105025"/>
            <a:ext cx="43815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001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4DB6E-FDD6-E5A0-6F31-CFB35FE4B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766212-FE1D-3FD4-6EE8-841110414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86929AC5-CDA7-F466-3A78-1C442BC00E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413" y="2105025"/>
            <a:ext cx="43815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136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F8ED-0768-A418-5C5D-61B0ACEA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78F1C0-009A-B8EB-5099-A8B16700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Вывод: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50968C4-A5C3-3899-618C-EC74F3343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Основные результаты</a:t>
            </a:r>
            <a:endParaRPr lang="ru-RU" dirty="0"/>
          </a:p>
          <a:p>
            <a:pPr lvl="0"/>
            <a:r>
              <a:rPr lang="ru-RU" dirty="0"/>
              <a:t>Для первого случая обе фирмы увеличивают оборотные средства и приближаются к стационарному состоянию.</a:t>
            </a:r>
          </a:p>
          <a:p>
            <a:pPr lvl="0"/>
            <a:r>
              <a:rPr lang="ru-RU" dirty="0"/>
              <a:t>Стационарные значения составляют примерно:</a:t>
            </a:r>
          </a:p>
          <a:p>
            <a:pPr lvl="0"/>
            <a:r>
              <a:rPr lang="ru-RU" dirty="0"/>
              <a:t>M₁* ≈ 1617.57</a:t>
            </a:r>
            <a:br>
              <a:rPr lang="ru-RU" dirty="0"/>
            </a:br>
            <a:r>
              <a:rPr lang="ru-RU" dirty="0"/>
              <a:t>M₂* ≈ 1706.75</a:t>
            </a:r>
          </a:p>
          <a:p>
            <a:pPr lvl="0"/>
            <a:r>
              <a:rPr lang="ru-RU" dirty="0"/>
              <a:t>При введении социально-психологического фактора:</a:t>
            </a:r>
          </a:p>
          <a:p>
            <a:pPr lvl="0"/>
            <a:r>
              <a:rPr lang="ru-RU" dirty="0"/>
              <a:t>M₁(30) ≈ 816.8</a:t>
            </a:r>
            <a:br>
              <a:rPr lang="ru-RU" dirty="0"/>
            </a:br>
            <a:r>
              <a:rPr lang="ru-RU" dirty="0"/>
              <a:t>M₂(30) ≈ 1706.8</a:t>
            </a:r>
          </a:p>
          <a:p>
            <a:pPr lvl="0"/>
            <a:r>
              <a:rPr lang="ru-RU" dirty="0"/>
              <a:t>Влияние дополнительного фактора наиболее существенно для первой фирмы.</a:t>
            </a:r>
          </a:p>
          <a:p>
            <a:r>
              <a:rPr lang="ru-RU" b="1" dirty="0"/>
              <a:t>Итог:</a:t>
            </a:r>
            <a:br>
              <a:rPr lang="ru-RU" dirty="0"/>
            </a:br>
            <a:r>
              <a:rPr lang="ru-RU" dirty="0"/>
              <a:t>Численное моделирование позволяет оценить динамику конкурирующих фирм и показать влияние изменения условий конкуренции на их оборотные средства.</a:t>
            </a:r>
          </a:p>
        </p:txBody>
      </p:sp>
    </p:spTree>
    <p:extLst>
      <p:ext uri="{BB962C8B-B14F-4D97-AF65-F5344CB8AC3E}">
        <p14:creationId xmlns:p14="http://schemas.microsoft.com/office/powerpoint/2010/main" val="255870216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</TotalTime>
  <Words>539</Words>
  <Application>Microsoft Office PowerPoint</Application>
  <PresentationFormat>Широкоэкранный</PresentationFormat>
  <Paragraphs>61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Calibri</vt:lpstr>
      <vt:lpstr>Calibri Light</vt:lpstr>
      <vt:lpstr>Ретро</vt:lpstr>
      <vt:lpstr>Лабораторная работа №8  Математическое моделирование </vt:lpstr>
      <vt:lpstr>Цель</vt:lpstr>
      <vt:lpstr>Задачи</vt:lpstr>
      <vt:lpstr>Исходные данные</vt:lpstr>
      <vt:lpstr>Выполнение</vt:lpstr>
      <vt:lpstr>Случай 1</vt:lpstr>
      <vt:lpstr>Случай 2</vt:lpstr>
      <vt:lpstr>Выполнение</vt:lpstr>
      <vt:lpstr>Выполнение</vt:lpstr>
      <vt:lpstr>Выполнение</vt:lpstr>
      <vt:lpstr>Вывод: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Никита Сахно</cp:lastModifiedBy>
  <cp:revision>28</cp:revision>
  <dcterms:created xsi:type="dcterms:W3CDTF">2023-10-14T19:58:32Z</dcterms:created>
  <dcterms:modified xsi:type="dcterms:W3CDTF">2026-10-07T15:04:34Z</dcterms:modified>
</cp:coreProperties>
</file>