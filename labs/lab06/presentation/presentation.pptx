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1" r:id="rId5"/>
    <p:sldId id="262" r:id="rId6"/>
    <p:sldId id="273" r:id="rId7"/>
    <p:sldId id="274" r:id="rId8"/>
    <p:sldId id="275" r:id="rId9"/>
    <p:sldId id="276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80608-14D1-4C76-9F62-91152B5CD37A}" v="35" dt="2026-10-07T13:18:33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№6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/>
              <a:t>Математическое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71" y="2148763"/>
            <a:ext cx="7729728" cy="3101983"/>
          </a:xfrm>
        </p:spPr>
        <p:txBody>
          <a:bodyPr/>
          <a:lstStyle/>
          <a:p>
            <a:r>
              <a:rPr lang="ru-RU" dirty="0"/>
              <a:t>Целью лабораторной работы является исследование математической</a:t>
            </a:r>
          </a:p>
          <a:p>
            <a:r>
              <a:rPr lang="ru-RU" dirty="0"/>
              <a:t>модели эпидемии, выполнение численного решения системы</a:t>
            </a:r>
          </a:p>
          <a:p>
            <a:r>
              <a:rPr lang="ru-RU" dirty="0"/>
              <a:t>дифференциальных уравнений в среде </a:t>
            </a:r>
            <a:r>
              <a:rPr lang="ru-RU" dirty="0" err="1"/>
              <a:t>Julia</a:t>
            </a:r>
            <a:r>
              <a:rPr lang="ru-RU" dirty="0"/>
              <a:t> и анализ изменения</a:t>
            </a:r>
          </a:p>
          <a:p>
            <a:r>
              <a:rPr lang="ru-RU" dirty="0"/>
              <a:t>численности трёх групп популяции во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Придумайте свой пример задачи об эпидемии, задайте начальные условия и</a:t>
            </a:r>
          </a:p>
          <a:p>
            <a:r>
              <a:rPr lang="ru-RU" dirty="0"/>
              <a:t>коэффициенты пропорциональности. Постройте графики изменения числа особей в</a:t>
            </a:r>
          </a:p>
          <a:p>
            <a:r>
              <a:rPr lang="ru-RU" dirty="0"/>
              <a:t>каждой из трех групп. </a:t>
            </a:r>
          </a:p>
          <a:p>
            <a:r>
              <a:rPr lang="ru-RU" dirty="0"/>
              <a:t>## Объект и предмет исследования</a:t>
            </a:r>
          </a:p>
          <a:p>
            <a:endParaRPr lang="ru-RU" dirty="0"/>
          </a:p>
          <a:p>
            <a:r>
              <a:rPr lang="ru-RU" dirty="0"/>
              <a:t>Объектом исследования является изолированная популяция,</a:t>
            </a:r>
          </a:p>
          <a:p>
            <a:r>
              <a:rPr lang="ru-RU" dirty="0"/>
              <a:t>в которой распространяется инфекционное заболевание.</a:t>
            </a:r>
          </a:p>
          <a:p>
            <a:endParaRPr lang="ru-RU" dirty="0"/>
          </a:p>
          <a:p>
            <a:r>
              <a:rPr lang="ru-RU" dirty="0"/>
              <a:t>Предметом исследования является динамика численности</a:t>
            </a:r>
          </a:p>
          <a:p>
            <a:r>
              <a:rPr lang="ru-RU" dirty="0"/>
              <a:t>восприимчивых, инфицированных и имеющих иммунитет особей</a:t>
            </a:r>
          </a:p>
          <a:p>
            <a:r>
              <a:rPr lang="ru-RU" dirty="0"/>
              <a:t>при различных начальных условиях.</a:t>
            </a:r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Исходные данные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D767984-F04B-9740-1265-131623DB2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885" y="2218579"/>
            <a:ext cx="3690257" cy="3670180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ru-RU" dirty="0"/>
              <a:t>N = 5424 — общая численность популяции</a:t>
            </a:r>
          </a:p>
          <a:p>
            <a:pPr lvl="0"/>
            <a:r>
              <a:rPr lang="ru-RU" dirty="0"/>
              <a:t>I(0) = 145 — начальное число инфицированных</a:t>
            </a:r>
          </a:p>
          <a:p>
            <a:pPr lvl="0"/>
            <a:r>
              <a:rPr lang="ru-RU" dirty="0"/>
              <a:t>R(0) = 9 — начальное число имеющих иммунитет</a:t>
            </a:r>
          </a:p>
          <a:p>
            <a:pPr lvl="0"/>
            <a:r>
              <a:rPr lang="ru-RU" dirty="0"/>
              <a:t>S(0) = 5270 — начальное число восприимчивых</a:t>
            </a:r>
          </a:p>
          <a:p>
            <a:pPr lvl="0"/>
            <a:r>
              <a:rPr lang="ru-RU" dirty="0"/>
              <a:t>I* = 300 — порог изоляции</a:t>
            </a:r>
          </a:p>
          <a:p>
            <a:r>
              <a:rPr lang="ru-RU" b="1" dirty="0"/>
              <a:t>Параметры модели:</a:t>
            </a:r>
            <a:endParaRPr lang="ru-RU" dirty="0"/>
          </a:p>
          <a:p>
            <a:pPr lvl="0"/>
            <a:r>
              <a:rPr lang="ru-RU" dirty="0"/>
              <a:t>α = 0,01 — коэффициент заражения</a:t>
            </a:r>
          </a:p>
          <a:p>
            <a:pPr lvl="0"/>
            <a:r>
              <a:rPr lang="ru-RU" dirty="0"/>
              <a:t>β = 0,02 — коэффициент выздоровления</a:t>
            </a:r>
          </a:p>
          <a:p>
            <a:pPr lvl="0"/>
            <a:r>
              <a:rPr lang="ru-RU" dirty="0"/>
              <a:t>t ∈ [0; 200]</a:t>
            </a:r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7" y="2198914"/>
            <a:ext cx="10301045" cy="3670180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/>
              <a:t>Переменные модели:</a:t>
            </a:r>
            <a:endParaRPr lang="ru-RU" dirty="0"/>
          </a:p>
          <a:p>
            <a:pPr lvl="0"/>
            <a:r>
              <a:rPr lang="ru-RU" dirty="0"/>
              <a:t>S(t) — восприимчивые к инфекции</a:t>
            </a:r>
          </a:p>
          <a:p>
            <a:pPr lvl="0"/>
            <a:r>
              <a:rPr lang="ru-RU" dirty="0"/>
              <a:t>I(t) — инфицированные</a:t>
            </a:r>
          </a:p>
          <a:p>
            <a:pPr lvl="0"/>
            <a:r>
              <a:rPr lang="ru-RU" dirty="0"/>
              <a:t>R(t) — имеющие иммунитет</a:t>
            </a:r>
          </a:p>
          <a:p>
            <a:r>
              <a:rPr lang="ru-RU" i="1" dirty="0"/>
              <a:t>При I(t) &gt; I:</a:t>
            </a:r>
            <a:r>
              <a:rPr lang="ru-RU" dirty="0"/>
              <a:t>*</a:t>
            </a:r>
          </a:p>
          <a:p>
            <a:r>
              <a:rPr lang="ru-RU" dirty="0" err="1"/>
              <a:t>dS</a:t>
            </a:r>
            <a:r>
              <a:rPr lang="ru-RU" dirty="0"/>
              <a:t>/</a:t>
            </a:r>
            <a:r>
              <a:rPr lang="ru-RU" dirty="0" err="1"/>
              <a:t>dt</a:t>
            </a:r>
            <a:r>
              <a:rPr lang="ru-RU" dirty="0"/>
              <a:t> = −αSI</a:t>
            </a:r>
          </a:p>
          <a:p>
            <a:r>
              <a:rPr lang="ru-RU" dirty="0" err="1"/>
              <a:t>dI</a:t>
            </a:r>
            <a:r>
              <a:rPr lang="ru-RU" dirty="0"/>
              <a:t>/</a:t>
            </a:r>
            <a:r>
              <a:rPr lang="ru-RU" dirty="0" err="1"/>
              <a:t>dt</a:t>
            </a:r>
            <a:r>
              <a:rPr lang="ru-RU" dirty="0"/>
              <a:t> = αSI − βI</a:t>
            </a:r>
          </a:p>
          <a:p>
            <a:r>
              <a:rPr lang="ru-RU" dirty="0" err="1"/>
              <a:t>dR</a:t>
            </a:r>
            <a:r>
              <a:rPr lang="ru-RU" dirty="0"/>
              <a:t>/</a:t>
            </a:r>
            <a:r>
              <a:rPr lang="ru-RU" dirty="0" err="1"/>
              <a:t>dt</a:t>
            </a:r>
            <a:r>
              <a:rPr lang="ru-RU" dirty="0"/>
              <a:t> = βI</a:t>
            </a:r>
          </a:p>
          <a:p>
            <a:r>
              <a:rPr lang="ru-RU" i="1" dirty="0"/>
              <a:t>При I(t) ≤ I:</a:t>
            </a:r>
            <a:r>
              <a:rPr lang="ru-RU" dirty="0"/>
              <a:t>*</a:t>
            </a:r>
          </a:p>
          <a:p>
            <a:r>
              <a:rPr lang="ru-RU" dirty="0" err="1"/>
              <a:t>dS</a:t>
            </a:r>
            <a:r>
              <a:rPr lang="ru-RU" dirty="0"/>
              <a:t>/</a:t>
            </a:r>
            <a:r>
              <a:rPr lang="ru-RU" dirty="0" err="1"/>
              <a:t>dt</a:t>
            </a:r>
            <a:r>
              <a:rPr lang="ru-RU" dirty="0"/>
              <a:t> = 0</a:t>
            </a:r>
          </a:p>
          <a:p>
            <a:r>
              <a:rPr lang="ru-RU" dirty="0" err="1"/>
              <a:t>dI</a:t>
            </a:r>
            <a:r>
              <a:rPr lang="ru-RU" dirty="0"/>
              <a:t>/</a:t>
            </a:r>
            <a:r>
              <a:rPr lang="ru-RU" dirty="0" err="1"/>
              <a:t>dt</a:t>
            </a:r>
            <a:r>
              <a:rPr lang="ru-RU" dirty="0"/>
              <a:t> = −βI</a:t>
            </a:r>
          </a:p>
          <a:p>
            <a:r>
              <a:rPr lang="ru-RU" dirty="0" err="1"/>
              <a:t>dR</a:t>
            </a:r>
            <a:r>
              <a:rPr lang="ru-RU" dirty="0"/>
              <a:t>/</a:t>
            </a:r>
            <a:r>
              <a:rPr lang="ru-RU" dirty="0" err="1"/>
              <a:t>dt</a:t>
            </a:r>
            <a:r>
              <a:rPr lang="ru-RU" dirty="0"/>
              <a:t> = βI</a:t>
            </a:r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E5C-053F-5A6F-E3BA-A39AAE9A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BF2C0-4AFA-1B45-8A5D-D8CB79CD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128762-501C-A13D-39B2-FC9DA6390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(0) = 145 ≤ 300</a:t>
            </a:r>
          </a:p>
          <a:p>
            <a:r>
              <a:rPr lang="ru-RU" dirty="0"/>
              <a:t>Инфицированные изолированы и не заражают восприимчивых.</a:t>
            </a:r>
          </a:p>
          <a:p>
            <a:r>
              <a:rPr lang="ru-RU" dirty="0"/>
              <a:t>Начальные условия:</a:t>
            </a:r>
          </a:p>
          <a:p>
            <a:r>
              <a:rPr lang="ru-RU" dirty="0"/>
              <a:t>S(0) = 5270</a:t>
            </a:r>
            <a:br>
              <a:rPr lang="ru-RU" dirty="0"/>
            </a:br>
            <a:r>
              <a:rPr lang="ru-RU" dirty="0"/>
              <a:t>I(0) = 145</a:t>
            </a:r>
            <a:br>
              <a:rPr lang="ru-RU" dirty="0"/>
            </a:br>
            <a:r>
              <a:rPr lang="ru-RU" dirty="0"/>
              <a:t>R(0) = 9</a:t>
            </a:r>
          </a:p>
          <a:p>
            <a:r>
              <a:rPr lang="ru-RU" b="1" dirty="0"/>
              <a:t>Случай 2: I(0) &gt; I</a:t>
            </a:r>
            <a:r>
              <a:rPr lang="ru-RU" dirty="0"/>
              <a:t>*</a:t>
            </a:r>
          </a:p>
          <a:p>
            <a:r>
              <a:rPr lang="ru-RU" dirty="0"/>
              <a:t>I(0) = 400 &gt; 300</a:t>
            </a:r>
          </a:p>
          <a:p>
            <a:r>
              <a:rPr lang="ru-RU" dirty="0"/>
              <a:t>Начальные условия:</a:t>
            </a:r>
          </a:p>
          <a:p>
            <a:r>
              <a:rPr lang="ru-RU" dirty="0"/>
              <a:t>S(0) = 5015</a:t>
            </a:r>
            <a:br>
              <a:rPr lang="ru-RU" dirty="0"/>
            </a:br>
            <a:r>
              <a:rPr lang="ru-RU" dirty="0"/>
              <a:t>I(0) = 400</a:t>
            </a:r>
            <a:br>
              <a:rPr lang="ru-RU" dirty="0"/>
            </a:br>
            <a:r>
              <a:rPr lang="ru-RU" dirty="0"/>
              <a:t>R(0) = 9</a:t>
            </a:r>
          </a:p>
          <a:p>
            <a:r>
              <a:rPr lang="ru-RU" dirty="0"/>
              <a:t>В этом случае происходит распространение инфекции.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205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1069-BBE0-528B-73FE-2B71B19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355-ED20-8E73-C497-0893DC31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685A50-B2E6-9DAB-9156-48EF292FF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Используемые средства:</a:t>
            </a:r>
            <a:endParaRPr lang="ru-RU" dirty="0"/>
          </a:p>
          <a:p>
            <a:pPr lvl="0"/>
            <a:r>
              <a:rPr lang="ru-RU" dirty="0" err="1"/>
              <a:t>DifferentialEquations</a:t>
            </a:r>
            <a:r>
              <a:rPr lang="ru-RU" dirty="0"/>
              <a:t> — решение системы дифференциальных уравнений</a:t>
            </a:r>
          </a:p>
          <a:p>
            <a:pPr lvl="0"/>
            <a:r>
              <a:rPr lang="ru-RU" dirty="0" err="1"/>
              <a:t>Plots</a:t>
            </a:r>
            <a:r>
              <a:rPr lang="ru-RU" dirty="0"/>
              <a:t> — построение графиков</a:t>
            </a:r>
          </a:p>
          <a:p>
            <a:r>
              <a:rPr lang="ru-RU" b="1" dirty="0"/>
              <a:t>Алгоритм:</a:t>
            </a:r>
            <a:endParaRPr lang="ru-RU" dirty="0"/>
          </a:p>
          <a:p>
            <a:pPr lvl="0"/>
            <a:r>
              <a:rPr lang="ru-RU" dirty="0"/>
              <a:t>Задать параметры модели и начальные условия.</a:t>
            </a:r>
          </a:p>
          <a:p>
            <a:pPr lvl="0"/>
            <a:r>
              <a:rPr lang="ru-RU" dirty="0"/>
              <a:t>Задать систему дифференциальных уравнений.</a:t>
            </a:r>
          </a:p>
          <a:p>
            <a:pPr lvl="0"/>
            <a:r>
              <a:rPr lang="ru-RU" dirty="0"/>
              <a:t>Решить систему численно на интервале t ∈ [0; 200].</a:t>
            </a:r>
          </a:p>
          <a:p>
            <a:pPr lvl="0"/>
            <a:r>
              <a:rPr lang="ru-RU" dirty="0"/>
              <a:t>Построить зависимости S(t), I(t), R(t).</a:t>
            </a:r>
          </a:p>
          <a:p>
            <a:pPr lvl="0"/>
            <a:r>
              <a:rPr lang="ru-RU" dirty="0"/>
              <a:t>Сравнить два случая.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617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8ED-100F-B97E-8D3D-26AD1E8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373F7-1D26-E9A2-E23C-066AEC1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FC4F69E-7BA0-9331-6282-1A2665668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256" y="1910431"/>
            <a:ext cx="3965487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7F8D-4CA4-B215-0C80-A959B451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BB426-ABB7-03B0-8373-0418D666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BE18A68-B9AB-5C47-2FC5-978B47DF2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846263"/>
            <a:ext cx="4022725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2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первом случае начальное количество инфицированных составляет 145 особей и не превышает критического значения 300. Поэтому заражение восприимчивых особей не происходит.</a:t>
            </a:r>
          </a:p>
          <a:p>
            <a:r>
              <a:rPr lang="ru-RU" dirty="0"/>
              <a:t>Во втором случае начальное количество инфицированных равно 400 особям и превышает критическое значение. В результате начинается заражение восприимчивых особей. Поэтому численность $S(t)$ уменьшается</a:t>
            </a:r>
          </a:p>
          <a:p>
            <a:r>
              <a:rPr lang="ru-RU" dirty="0"/>
              <a:t>Цель лабораторной работы достигнута: математическая модель эпидемии была реализована и исследована численно.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464</Words>
  <Application>Microsoft Office PowerPoint</Application>
  <PresentationFormat>Широкоэкранный</PresentationFormat>
  <Paragraphs>69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Ретро</vt:lpstr>
      <vt:lpstr>Лабораторная работа №6  Математическое моделирование </vt:lpstr>
      <vt:lpstr>Цель</vt:lpstr>
      <vt:lpstr>Задачи</vt:lpstr>
      <vt:lpstr>Исходные данные</vt:lpstr>
      <vt:lpstr>Выполнение</vt:lpstr>
      <vt:lpstr>Выполнение</vt:lpstr>
      <vt:lpstr>Выполнение</vt:lpstr>
      <vt:lpstr>Выполнение</vt:lpstr>
      <vt:lpstr>Выполнение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28</cp:revision>
  <dcterms:created xsi:type="dcterms:W3CDTF">2023-10-14T19:58:32Z</dcterms:created>
  <dcterms:modified xsi:type="dcterms:W3CDTF">2026-10-07T13:19:10Z</dcterms:modified>
</cp:coreProperties>
</file>