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2" r:id="rId5"/>
    <p:sldId id="273" r:id="rId6"/>
    <p:sldId id="274" r:id="rId7"/>
    <p:sldId id="275" r:id="rId8"/>
    <p:sldId id="276" r:id="rId9"/>
    <p:sldId id="277" r:id="rId10"/>
    <p:sldId id="278" r:id="rId11"/>
    <p:sldId id="2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2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0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4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3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6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758952"/>
            <a:ext cx="11602065" cy="35661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работа №</a:t>
            </a:r>
            <a:r>
              <a:rPr lang="en-US" b="1" dirty="0"/>
              <a:t>7</a:t>
            </a:r>
            <a:br>
              <a:rPr lang="ru-RU" b="1" dirty="0"/>
            </a:br>
            <a:r>
              <a:rPr lang="ru-RU" b="1" dirty="0"/>
              <a:t> </a:t>
            </a:r>
            <a:r>
              <a:rPr lang="ru-RU" sz="3100" b="1" dirty="0"/>
              <a:t>Математическое моделирование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r>
              <a:rPr lang="ru-RU" dirty="0"/>
              <a:t> 1132230298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071" y="2148763"/>
            <a:ext cx="7729728" cy="3101983"/>
          </a:xfrm>
        </p:spPr>
        <p:txBody>
          <a:bodyPr/>
          <a:lstStyle/>
          <a:p>
            <a:r>
              <a:rPr lang="ru-RU" dirty="0"/>
              <a:t>Целью лабораторной работы является исследование математической модели</a:t>
            </a:r>
          </a:p>
          <a:p>
            <a:r>
              <a:rPr lang="ru-RU" dirty="0"/>
              <a:t>распространения рекламы, выполнение численного решения дифференциальных</a:t>
            </a:r>
          </a:p>
          <a:p>
            <a:r>
              <a:rPr lang="ru-RU" dirty="0"/>
              <a:t>уравнений в среде </a:t>
            </a:r>
            <a:r>
              <a:rPr lang="ru-RU" dirty="0" err="1"/>
              <a:t>Julia</a:t>
            </a:r>
            <a:r>
              <a:rPr lang="ru-RU" dirty="0"/>
              <a:t>, построение графиков и анализ эффективности</a:t>
            </a:r>
          </a:p>
          <a:p>
            <a:r>
              <a:rPr lang="ru-RU" dirty="0"/>
              <a:t>распространения информации среди потенциальных покупателей.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Задачи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ED3936-E976-FA50-7AB2-BE6D49B80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29 января в городе открылся новый салон красоты. Полагаем, что на момент</a:t>
            </a:r>
          </a:p>
          <a:p>
            <a:r>
              <a:rPr lang="ru-RU" dirty="0"/>
              <a:t>открытия о салоне знали</a:t>
            </a:r>
          </a:p>
          <a:p>
            <a:r>
              <a:rPr lang="ru-RU" dirty="0"/>
              <a:t>N0</a:t>
            </a:r>
          </a:p>
          <a:p>
            <a:r>
              <a:rPr lang="ru-RU" dirty="0"/>
              <a:t> потенциальных клиентов. По маркетинговым</a:t>
            </a:r>
          </a:p>
          <a:p>
            <a:r>
              <a:rPr lang="ru-RU" dirty="0"/>
              <a:t>исследованиям известно, что в районе проживают</a:t>
            </a:r>
          </a:p>
          <a:p>
            <a:r>
              <a:rPr lang="ru-RU" dirty="0"/>
              <a:t>N</a:t>
            </a:r>
          </a:p>
          <a:p>
            <a:r>
              <a:rPr lang="ru-RU" dirty="0"/>
              <a:t>потенциальных клиентов</a:t>
            </a:r>
          </a:p>
          <a:p>
            <a:r>
              <a:rPr lang="ru-RU" dirty="0"/>
              <a:t>салона. Поэтому после открытия салона руководитель запускает активную</a:t>
            </a:r>
          </a:p>
          <a:p>
            <a:r>
              <a:rPr lang="ru-RU" dirty="0"/>
              <a:t>рекламную компанию. После этого скорость изменения числа знающих о салоне</a:t>
            </a:r>
          </a:p>
          <a:p>
            <a:r>
              <a:rPr lang="ru-RU" dirty="0"/>
              <a:t>пропорциональна как числу знающих о нем, так и числу не знаю о нем.</a:t>
            </a:r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4547B48-987D-8DBE-820A-F8C2E4FC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97" y="2198914"/>
            <a:ext cx="10301045" cy="3670180"/>
          </a:xfrm>
        </p:spPr>
        <p:txBody>
          <a:bodyPr>
            <a:normAutofit/>
          </a:bodyPr>
          <a:lstStyle/>
          <a:p>
            <a:r>
              <a:rPr lang="ru-RU" dirty="0"/>
              <a:t>Основное дифференциальное уравнение:</a:t>
            </a:r>
          </a:p>
          <a:p>
            <a:r>
              <a:rPr lang="ru-RU" dirty="0" err="1"/>
              <a:t>dn</a:t>
            </a:r>
            <a:r>
              <a:rPr lang="ru-RU" dirty="0"/>
              <a:t>/</a:t>
            </a:r>
            <a:r>
              <a:rPr lang="ru-RU" dirty="0" err="1"/>
              <a:t>dt</a:t>
            </a:r>
            <a:r>
              <a:rPr lang="ru-RU" dirty="0"/>
              <a:t> = (α₁(t) + α₂(t)n(t))(N − n(t))</a:t>
            </a:r>
          </a:p>
          <a:p>
            <a:r>
              <a:rPr lang="ru-RU" dirty="0"/>
              <a:t>α₁(t) — эффективность платной рекламы.</a:t>
            </a:r>
          </a:p>
          <a:p>
            <a:r>
              <a:rPr lang="ru-RU" dirty="0"/>
              <a:t>α₂(t) — эффективность распространения информации между клиентами.</a:t>
            </a:r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E5C-053F-5A6F-E3BA-A39AAE9A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BF2C0-4AFA-1B45-8A5D-D8CB79CD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128762-501C-A13D-39B2-FC9DA6390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Исходные данные</a:t>
            </a:r>
            <a:endParaRPr lang="en-US" dirty="0"/>
          </a:p>
          <a:p>
            <a:r>
              <a:rPr lang="ru-RU" dirty="0"/>
              <a:t>N = 2020</a:t>
            </a:r>
          </a:p>
          <a:p>
            <a:r>
              <a:rPr lang="ru-RU" dirty="0"/>
              <a:t>n(0) = 28</a:t>
            </a:r>
          </a:p>
          <a:p>
            <a:r>
              <a:rPr lang="ru-RU" dirty="0"/>
              <a:t>Модель 1:</a:t>
            </a:r>
          </a:p>
          <a:p>
            <a:r>
              <a:rPr lang="ru-RU" dirty="0" err="1"/>
              <a:t>dn</a:t>
            </a:r>
            <a:r>
              <a:rPr lang="ru-RU" dirty="0"/>
              <a:t>/</a:t>
            </a:r>
            <a:r>
              <a:rPr lang="ru-RU" dirty="0" err="1"/>
              <a:t>dt</a:t>
            </a:r>
            <a:r>
              <a:rPr lang="ru-RU" dirty="0"/>
              <a:t> = (0.99 + 0.00009n)(2020 − n)</a:t>
            </a:r>
          </a:p>
          <a:p>
            <a:r>
              <a:rPr lang="ru-RU" dirty="0"/>
              <a:t>Модель 2:</a:t>
            </a:r>
          </a:p>
          <a:p>
            <a:r>
              <a:rPr lang="ru-RU" dirty="0" err="1"/>
              <a:t>dn</a:t>
            </a:r>
            <a:r>
              <a:rPr lang="ru-RU" dirty="0"/>
              <a:t>/</a:t>
            </a:r>
            <a:r>
              <a:rPr lang="ru-RU" dirty="0" err="1"/>
              <a:t>dt</a:t>
            </a:r>
            <a:r>
              <a:rPr lang="ru-RU" dirty="0"/>
              <a:t> = (0.000099 + 0.9n)(2020 − n)</a:t>
            </a:r>
          </a:p>
          <a:p>
            <a:r>
              <a:rPr lang="ru-RU" dirty="0"/>
              <a:t>Модель 3:</a:t>
            </a:r>
          </a:p>
          <a:p>
            <a:r>
              <a:rPr lang="ru-RU" dirty="0" err="1"/>
              <a:t>dn</a:t>
            </a:r>
            <a:r>
              <a:rPr lang="ru-RU" dirty="0"/>
              <a:t>/</a:t>
            </a:r>
            <a:r>
              <a:rPr lang="ru-RU" dirty="0" err="1"/>
              <a:t>dt</a:t>
            </a:r>
            <a:r>
              <a:rPr lang="ru-RU" dirty="0"/>
              <a:t> = (0.9·sin(0.9t) + 0.99·cos(0.99t)·n)(2020 − n)</a:t>
            </a:r>
          </a:p>
        </p:txBody>
      </p:sp>
    </p:spTree>
    <p:extLst>
      <p:ext uri="{BB962C8B-B14F-4D97-AF65-F5344CB8AC3E}">
        <p14:creationId xmlns:p14="http://schemas.microsoft.com/office/powerpoint/2010/main" val="73205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1069-BBE0-528B-73FE-2B71B19E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7355-ED20-8E73-C497-0893DC31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685A50-B2E6-9DAB-9156-48EF292FF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решения использовалась среда </a:t>
            </a:r>
            <a:r>
              <a:rPr lang="ru-RU" dirty="0" err="1"/>
              <a:t>Julia</a:t>
            </a:r>
            <a:r>
              <a:rPr lang="ru-RU" dirty="0"/>
              <a:t>.</a:t>
            </a:r>
          </a:p>
          <a:p>
            <a:r>
              <a:rPr lang="ru-RU" dirty="0" err="1"/>
              <a:t>DifferentialEquations.jl</a:t>
            </a:r>
            <a:r>
              <a:rPr lang="ru-RU" dirty="0"/>
              <a:t> — численное решение дифференциальных уравнений.</a:t>
            </a:r>
          </a:p>
          <a:p>
            <a:r>
              <a:rPr lang="ru-RU" dirty="0" err="1"/>
              <a:t>Plots.jl</a:t>
            </a:r>
            <a:r>
              <a:rPr lang="ru-RU" dirty="0"/>
              <a:t> — построение графиков.</a:t>
            </a:r>
          </a:p>
          <a:p>
            <a:r>
              <a:rPr lang="ru-RU" dirty="0"/>
              <a:t>Метод решения: Tsit5().</a:t>
            </a:r>
          </a:p>
          <a:p>
            <a:r>
              <a:rPr lang="ru-RU" dirty="0"/>
              <a:t>Для каждой модели получена зависимость числа осведомлённых клиентов n(t) от времени t.</a:t>
            </a:r>
          </a:p>
        </p:txBody>
      </p:sp>
    </p:spTree>
    <p:extLst>
      <p:ext uri="{BB962C8B-B14F-4D97-AF65-F5344CB8AC3E}">
        <p14:creationId xmlns:p14="http://schemas.microsoft.com/office/powerpoint/2010/main" val="417617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8ED-100F-B97E-8D3D-26AD1E86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373F7-1D26-E9A2-E23C-066AEC14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8463647-7C19-63DE-09E3-A05BA9581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504" y="1846263"/>
            <a:ext cx="4125318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5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B7F8D-4CA4-B215-0C80-A959B451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BB426-ABB7-03B0-8373-0418D666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0619B2D-41DD-603D-E306-70AEFA1D0D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663" y="1952625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26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53864-EC03-4ED0-3DF0-AA17F277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B95D3-7CD2-2388-585C-DA84B6B66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B11BC6B-9ECA-9C3C-5683-63367DF49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663" y="1952625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0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DB6E-FDD6-E5A0-6F31-CFB35FE4B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66212-FE1D-3FD4-6EE8-841110414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00AAC71-9878-B654-FB90-0EA8A5D7E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663" y="1952625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136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ходе работы была исследована математическая модель распространения рекламной информации.</a:t>
            </a:r>
          </a:p>
          <a:p>
            <a:r>
              <a:rPr lang="ru-RU" dirty="0"/>
              <a:t>Проведено численное решение дифференциальных уравнений и построены графики изменения числа осведомлённых клиентов.</a:t>
            </a:r>
          </a:p>
          <a:p>
            <a:r>
              <a:rPr lang="ru-RU" dirty="0"/>
              <a:t>Установлено, что увеличение роли межличностного распространения информации значительно ускоряет рост числа осведомлённых клиентов.</a:t>
            </a:r>
          </a:p>
          <a:p>
            <a:r>
              <a:rPr lang="ru-RU" dirty="0"/>
              <a:t>Математическая модель позволяет оценить эффективность рекламной кампании и определить наиболее интенсивный этап её распространения.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347</Words>
  <Application>Microsoft Office PowerPoint</Application>
  <PresentationFormat>Широкоэкранный</PresentationFormat>
  <Paragraphs>49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Ретро</vt:lpstr>
      <vt:lpstr>Лабораторная работа №7  Математическое моделирование </vt:lpstr>
      <vt:lpstr>Цель</vt:lpstr>
      <vt:lpstr>Задачи</vt:lpstr>
      <vt:lpstr>Выполнение</vt:lpstr>
      <vt:lpstr>Выполнение</vt:lpstr>
      <vt:lpstr>Выполнение</vt:lpstr>
      <vt:lpstr>Выполнение</vt:lpstr>
      <vt:lpstr>Выполнение</vt:lpstr>
      <vt:lpstr>Выполнение</vt:lpstr>
      <vt:lpstr>Выполнение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28</cp:revision>
  <dcterms:created xsi:type="dcterms:W3CDTF">2023-10-14T19:58:32Z</dcterms:created>
  <dcterms:modified xsi:type="dcterms:W3CDTF">2026-10-07T14:00:24Z</dcterms:modified>
</cp:coreProperties>
</file>