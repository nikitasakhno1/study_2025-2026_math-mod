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5" r:id="rId16"/>
    <p:sldId id="277" r:id="rId17"/>
    <p:sldId id="279" r:id="rId18"/>
    <p:sldId id="284" r:id="rId19"/>
    <p:sldId id="285" r:id="rId20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8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62" y="71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2631" y="82852"/>
            <a:ext cx="485013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82852"/>
            <a:ext cx="485013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643409"/>
            <a:ext cx="2967354" cy="2004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5109" y="2992618"/>
            <a:ext cx="247014" cy="14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" y="807330"/>
            <a:ext cx="1888489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22373A"/>
                </a:solidFill>
              </a:rPr>
              <a:t>Лабораторная</a:t>
            </a:r>
            <a:r>
              <a:rPr sz="1200" spc="40" dirty="0">
                <a:solidFill>
                  <a:srgbClr val="22373A"/>
                </a:solidFill>
              </a:rPr>
              <a:t> </a:t>
            </a:r>
            <a:r>
              <a:rPr sz="1200" dirty="0">
                <a:solidFill>
                  <a:srgbClr val="22373A"/>
                </a:solidFill>
              </a:rPr>
              <a:t>работа</a:t>
            </a:r>
            <a:r>
              <a:rPr sz="1200" spc="45" dirty="0">
                <a:solidFill>
                  <a:srgbClr val="22373A"/>
                </a:solidFill>
              </a:rPr>
              <a:t> </a:t>
            </a:r>
            <a:r>
              <a:rPr sz="1200" spc="-25" dirty="0">
                <a:solidFill>
                  <a:srgbClr val="22373A"/>
                </a:solidFill>
              </a:rPr>
              <a:t>№3</a:t>
            </a:r>
            <a:endParaRPr sz="1200"/>
          </a:p>
        </p:txBody>
      </p:sp>
      <p:sp>
        <p:nvSpPr>
          <p:cNvPr id="4" name="object 4"/>
          <p:cNvSpPr txBox="1"/>
          <p:nvPr/>
        </p:nvSpPr>
        <p:spPr>
          <a:xfrm>
            <a:off x="347294" y="1112388"/>
            <a:ext cx="1538605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Модель</a:t>
            </a:r>
            <a:r>
              <a:rPr sz="10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боевых</a:t>
            </a:r>
            <a:r>
              <a:rPr sz="10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действий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11255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0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294" y="1713071"/>
            <a:ext cx="2342515" cy="67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07490">
              <a:lnSpc>
                <a:spcPct val="155500"/>
              </a:lnSpc>
              <a:spcBef>
                <a:spcPts val="100"/>
              </a:spcBef>
            </a:pPr>
            <a:r>
              <a:rPr lang="ru-RU" sz="850" dirty="0">
                <a:solidFill>
                  <a:srgbClr val="22373A"/>
                </a:solidFill>
                <a:latin typeface="Tahoma"/>
                <a:cs typeface="Tahoma"/>
              </a:rPr>
              <a:t>Сахно Н.В.</a:t>
            </a:r>
          </a:p>
          <a:p>
            <a:pPr marL="12700" marR="1507490">
              <a:lnSpc>
                <a:spcPct val="155500"/>
              </a:lnSpc>
              <a:spcBef>
                <a:spcPts val="100"/>
              </a:spcBef>
            </a:pPr>
            <a:r>
              <a:rPr lang="ru-RU" sz="850" spc="-70" dirty="0">
                <a:solidFill>
                  <a:srgbClr val="22373A"/>
                </a:solidFill>
                <a:latin typeface="Tahoma"/>
                <a:cs typeface="Tahoma"/>
              </a:rPr>
              <a:t>3 марта </a:t>
            </a:r>
            <a:r>
              <a:rPr sz="850" spc="-55" dirty="0">
                <a:solidFill>
                  <a:srgbClr val="22373A"/>
                </a:solidFill>
                <a:latin typeface="Tahoma"/>
                <a:cs typeface="Tahoma"/>
              </a:rPr>
              <a:t>202</a:t>
            </a:r>
            <a:r>
              <a:rPr lang="ru-RU" sz="850" spc="-55" dirty="0">
                <a:solidFill>
                  <a:srgbClr val="22373A"/>
                </a:solidFill>
                <a:latin typeface="Tahoma"/>
                <a:cs typeface="Tahoma"/>
              </a:rPr>
              <a:t>6</a:t>
            </a:r>
            <a:endParaRPr sz="8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8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Российский</a:t>
            </a:r>
            <a:r>
              <a:rPr sz="65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университет</a:t>
            </a:r>
            <a:r>
              <a:rPr sz="65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дружбы</a:t>
            </a:r>
            <a:r>
              <a:rPr sz="65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народов,</a:t>
            </a:r>
            <a:r>
              <a:rPr sz="65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Москва,</a:t>
            </a:r>
            <a:r>
              <a:rPr sz="65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22373A"/>
                </a:solidFill>
                <a:latin typeface="Tahoma"/>
                <a:cs typeface="Tahoma"/>
              </a:rPr>
              <a:t>Россия</a:t>
            </a:r>
            <a:endParaRPr sz="65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91594" y="2997946"/>
            <a:ext cx="18034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0" dirty="0">
                <a:solidFill>
                  <a:srgbClr val="22373A"/>
                </a:solidFill>
                <a:latin typeface="Tahoma"/>
                <a:cs typeface="Tahoma"/>
              </a:rPr>
              <a:t>1/27</a:t>
            </a:r>
            <a:endParaRPr sz="6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3491" y="1321909"/>
            <a:ext cx="974725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solidFill>
                  <a:srgbClr val="22373A"/>
                </a:solidFill>
                <a:latin typeface="Microsoft Sans Serif"/>
                <a:cs typeface="Microsoft Sans Serif"/>
                <a:hlinkClick r:id="rId2" action="ppaction://hlinksldjump"/>
              </a:rPr>
              <a:t>Информация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86191" y="1664061"/>
            <a:ext cx="2588260" cy="5080"/>
            <a:chOff x="1586191" y="1664061"/>
            <a:chExt cx="2588260" cy="5080"/>
          </a:xfrm>
        </p:grpSpPr>
        <p:sp>
          <p:nvSpPr>
            <p:cNvPr id="4" name="object 4"/>
            <p:cNvSpPr/>
            <p:nvPr/>
          </p:nvSpPr>
          <p:spPr>
            <a:xfrm>
              <a:off x="1586191" y="1664061"/>
              <a:ext cx="2588260" cy="5080"/>
            </a:xfrm>
            <a:custGeom>
              <a:avLst/>
              <a:gdLst/>
              <a:ahLst/>
              <a:cxnLst/>
              <a:rect l="l" t="t" r="r" b="b"/>
              <a:pathLst>
                <a:path w="2588260" h="5080">
                  <a:moveTo>
                    <a:pt x="0" y="5060"/>
                  </a:moveTo>
                  <a:lnTo>
                    <a:pt x="0" y="0"/>
                  </a:lnTo>
                  <a:lnTo>
                    <a:pt x="2587637" y="0"/>
                  </a:lnTo>
                  <a:lnTo>
                    <a:pt x="25876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6191" y="1664061"/>
              <a:ext cx="95885" cy="5080"/>
            </a:xfrm>
            <a:custGeom>
              <a:avLst/>
              <a:gdLst/>
              <a:ahLst/>
              <a:cxnLst/>
              <a:rect l="l" t="t" r="r" b="b"/>
              <a:pathLst>
                <a:path w="95885" h="5080">
                  <a:moveTo>
                    <a:pt x="0" y="5060"/>
                  </a:moveTo>
                  <a:lnTo>
                    <a:pt x="0" y="0"/>
                  </a:lnTo>
                  <a:lnTo>
                    <a:pt x="95828" y="0"/>
                  </a:lnTo>
                  <a:lnTo>
                    <a:pt x="958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Докладчик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426720" cy="5080"/>
            </a:xfrm>
            <a:custGeom>
              <a:avLst/>
              <a:gdLst/>
              <a:ahLst/>
              <a:cxnLst/>
              <a:rect l="l" t="t" r="r" b="b"/>
              <a:pathLst>
                <a:path w="426720" h="5079">
                  <a:moveTo>
                    <a:pt x="0" y="5060"/>
                  </a:moveTo>
                  <a:lnTo>
                    <a:pt x="0" y="0"/>
                  </a:lnTo>
                  <a:lnTo>
                    <a:pt x="426714" y="0"/>
                  </a:lnTo>
                  <a:lnTo>
                    <a:pt x="42671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1358" y="1194412"/>
            <a:ext cx="2414270" cy="616836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16839" indent="-104139">
              <a:lnSpc>
                <a:spcPct val="100000"/>
              </a:lnSpc>
              <a:spcBef>
                <a:spcPts val="570"/>
              </a:spcBef>
              <a:buChar char="•"/>
              <a:tabLst>
                <a:tab pos="116839" algn="l"/>
              </a:tabLst>
            </a:pPr>
            <a:r>
              <a:rPr lang="ru-RU" sz="900" dirty="0">
                <a:solidFill>
                  <a:srgbClr val="22373A"/>
                </a:solidFill>
                <a:latin typeface="Tahoma"/>
                <a:cs typeface="Tahoma"/>
              </a:rPr>
              <a:t>Сахно Никита Вячеславович</a:t>
            </a:r>
            <a:endParaRPr sz="900" dirty="0">
              <a:latin typeface="Tahoma"/>
              <a:cs typeface="Tahoma"/>
            </a:endParaRPr>
          </a:p>
          <a:p>
            <a:pPr marL="116839" indent="-104139">
              <a:lnSpc>
                <a:spcPct val="100000"/>
              </a:lnSpc>
              <a:spcBef>
                <a:spcPts val="480"/>
              </a:spcBef>
              <a:buChar char="•"/>
              <a:tabLst>
                <a:tab pos="116839" algn="l"/>
              </a:tabLst>
            </a:pPr>
            <a:r>
              <a:rPr sz="900" dirty="0" err="1">
                <a:solidFill>
                  <a:srgbClr val="22373A"/>
                </a:solidFill>
                <a:latin typeface="Tahoma"/>
                <a:cs typeface="Tahoma"/>
              </a:rPr>
              <a:t>студент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 err="1">
                <a:solidFill>
                  <a:srgbClr val="22373A"/>
                </a:solidFill>
                <a:latin typeface="Tahoma"/>
                <a:cs typeface="Tahoma"/>
              </a:rPr>
              <a:t>группы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Н</a:t>
            </a:r>
            <a:r>
              <a:rPr lang="ru-RU" sz="900" dirty="0" err="1">
                <a:solidFill>
                  <a:srgbClr val="22373A"/>
                </a:solidFill>
                <a:latin typeface="Tahoma"/>
                <a:cs typeface="Tahoma"/>
              </a:rPr>
              <a:t>ФИбд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-</a:t>
            </a:r>
            <a:r>
              <a:rPr sz="900" spc="-50" dirty="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lang="ru-RU" sz="900" spc="-50" dirty="0">
                <a:solidFill>
                  <a:srgbClr val="22373A"/>
                </a:solidFill>
                <a:latin typeface="Tahoma"/>
                <a:cs typeface="Tahoma"/>
              </a:rPr>
              <a:t>2-23</a:t>
            </a:r>
            <a:endParaRPr sz="900" dirty="0">
              <a:latin typeface="Tahoma"/>
              <a:cs typeface="Tahoma"/>
            </a:endParaRPr>
          </a:p>
          <a:p>
            <a:pPr marL="116839" indent="-104139">
              <a:lnSpc>
                <a:spcPct val="100000"/>
              </a:lnSpc>
              <a:spcBef>
                <a:spcPts val="480"/>
              </a:spcBef>
              <a:buChar char="•"/>
              <a:tabLst>
                <a:tab pos="116839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Российский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университет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 err="1">
                <a:solidFill>
                  <a:srgbClr val="22373A"/>
                </a:solidFill>
                <a:latin typeface="Tahoma"/>
                <a:cs typeface="Tahoma"/>
              </a:rPr>
              <a:t>дружбы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 err="1">
                <a:solidFill>
                  <a:srgbClr val="22373A"/>
                </a:solidFill>
                <a:latin typeface="Tahoma"/>
                <a:cs typeface="Tahoma"/>
              </a:rPr>
              <a:t>народов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7980" y="583440"/>
            <a:ext cx="1511929" cy="201590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44325" y="2992618"/>
            <a:ext cx="227329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-10" dirty="0">
                <a:solidFill>
                  <a:srgbClr val="22373A"/>
                </a:solidFill>
                <a:latin typeface="Tahoma"/>
                <a:cs typeface="Tahoma"/>
              </a:rPr>
              <a:t>2/27</a:t>
            </a:r>
            <a:endParaRPr sz="650">
              <a:latin typeface="Tahoma"/>
              <a:cs typeface="Tahoma"/>
            </a:endParaRPr>
          </a:p>
        </p:txBody>
      </p:sp>
      <p:pic>
        <p:nvPicPr>
          <p:cNvPr id="13" name="Рисунок 12" descr="Изображение выглядит как одежда, человек, рукав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48A945-5884-0D66-DA26-2A26B84384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05" y="587690"/>
            <a:ext cx="1511928" cy="201165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3491" y="1317235"/>
            <a:ext cx="1064260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22373A"/>
                </a:solidFill>
                <a:latin typeface="Microsoft Sans Serif"/>
                <a:cs typeface="Microsoft Sans Serif"/>
                <a:hlinkClick r:id="rId2" action="ppaction://hlinksldjump"/>
              </a:rPr>
              <a:t>Вводная</a:t>
            </a:r>
            <a:r>
              <a:rPr sz="1200" spc="-10" dirty="0">
                <a:solidFill>
                  <a:srgbClr val="22373A"/>
                </a:solidFill>
                <a:latin typeface="Microsoft Sans Serif"/>
                <a:cs typeface="Microsoft Sans Serif"/>
                <a:hlinkClick r:id="rId2" action="ppaction://hlinksldjump"/>
              </a:rPr>
              <a:t> часть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86191" y="1659388"/>
            <a:ext cx="2588260" cy="5080"/>
            <a:chOff x="1586191" y="1659388"/>
            <a:chExt cx="2588260" cy="5080"/>
          </a:xfrm>
        </p:grpSpPr>
        <p:sp>
          <p:nvSpPr>
            <p:cNvPr id="4" name="object 4"/>
            <p:cNvSpPr/>
            <p:nvPr/>
          </p:nvSpPr>
          <p:spPr>
            <a:xfrm>
              <a:off x="1586191" y="1659388"/>
              <a:ext cx="2588260" cy="5080"/>
            </a:xfrm>
            <a:custGeom>
              <a:avLst/>
              <a:gdLst/>
              <a:ahLst/>
              <a:cxnLst/>
              <a:rect l="l" t="t" r="r" b="b"/>
              <a:pathLst>
                <a:path w="2588260" h="5080">
                  <a:moveTo>
                    <a:pt x="0" y="5060"/>
                  </a:moveTo>
                  <a:lnTo>
                    <a:pt x="0" y="0"/>
                  </a:lnTo>
                  <a:lnTo>
                    <a:pt x="2587637" y="0"/>
                  </a:lnTo>
                  <a:lnTo>
                    <a:pt x="25876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6191" y="1659388"/>
              <a:ext cx="191770" cy="5080"/>
            </a:xfrm>
            <a:custGeom>
              <a:avLst/>
              <a:gdLst/>
              <a:ahLst/>
              <a:cxnLst/>
              <a:rect l="l" t="t" r="r" b="b"/>
              <a:pathLst>
                <a:path w="191769" h="5080">
                  <a:moveTo>
                    <a:pt x="0" y="5060"/>
                  </a:moveTo>
                  <a:lnTo>
                    <a:pt x="0" y="0"/>
                  </a:lnTo>
                  <a:lnTo>
                    <a:pt x="191695" y="0"/>
                  </a:lnTo>
                  <a:lnTo>
                    <a:pt x="1916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82852"/>
            <a:ext cx="3282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0" dirty="0">
                <a:solidFill>
                  <a:srgbClr val="F9F9F9"/>
                </a:solidFill>
                <a:latin typeface="Microsoft Sans Serif"/>
                <a:cs typeface="Microsoft Sans Serif"/>
              </a:rPr>
              <a:t>Цели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8793"/>
              <a:ext cx="640080" cy="5080"/>
            </a:xfrm>
            <a:custGeom>
              <a:avLst/>
              <a:gdLst/>
              <a:ahLst/>
              <a:cxnLst/>
              <a:rect l="l" t="t" r="r" b="b"/>
              <a:pathLst>
                <a:path w="640080" h="5079">
                  <a:moveTo>
                    <a:pt x="0" y="5060"/>
                  </a:moveTo>
                  <a:lnTo>
                    <a:pt x="0" y="0"/>
                  </a:lnTo>
                  <a:lnTo>
                    <a:pt x="640027" y="0"/>
                  </a:lnTo>
                  <a:lnTo>
                    <a:pt x="6400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7294" y="1591115"/>
            <a:ext cx="400177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Построить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математическую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модель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боевых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действий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провести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анализ.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82852"/>
            <a:ext cx="4476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Задачи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8793"/>
              <a:ext cx="853440" cy="5080"/>
            </a:xfrm>
            <a:custGeom>
              <a:avLst/>
              <a:gdLst/>
              <a:ahLst/>
              <a:cxnLst/>
              <a:rect l="l" t="t" r="r" b="b"/>
              <a:pathLst>
                <a:path w="853440" h="5079">
                  <a:moveTo>
                    <a:pt x="0" y="5060"/>
                  </a:moveTo>
                  <a:lnTo>
                    <a:pt x="0" y="0"/>
                  </a:lnTo>
                  <a:lnTo>
                    <a:pt x="853340" y="0"/>
                  </a:lnTo>
                  <a:lnTo>
                    <a:pt x="85334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7294" y="1137978"/>
            <a:ext cx="5066030" cy="101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Между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страной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spc="210" dirty="0">
                <a:solidFill>
                  <a:srgbClr val="22373A"/>
                </a:solidFill>
                <a:latin typeface="Cambria"/>
                <a:cs typeface="Cambria"/>
              </a:rPr>
              <a:t>𝑋</a:t>
            </a:r>
            <a:r>
              <a:rPr sz="1100" spc="2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страной</a:t>
            </a:r>
            <a:r>
              <a:rPr sz="9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𝑌</a:t>
            </a:r>
            <a:r>
              <a:rPr sz="1100" spc="2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идет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война.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Численность</a:t>
            </a:r>
            <a:r>
              <a:rPr sz="9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состава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войск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исчисляется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от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начала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войны,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являются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временными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функциями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𝑥(𝑡)</a:t>
            </a:r>
            <a:r>
              <a:rPr sz="1100" spc="11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mbria"/>
                <a:cs typeface="Cambria"/>
              </a:rPr>
              <a:t>𝑦(𝑡)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.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начальный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момент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времени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страна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spc="210" dirty="0">
                <a:solidFill>
                  <a:srgbClr val="22373A"/>
                </a:solidFill>
                <a:latin typeface="Cambria"/>
                <a:cs typeface="Cambria"/>
              </a:rPr>
              <a:t>𝑋</a:t>
            </a:r>
            <a:r>
              <a:rPr sz="1100" spc="9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имеет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армию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 err="1">
                <a:solidFill>
                  <a:srgbClr val="22373A"/>
                </a:solidFill>
                <a:latin typeface="Tahoma"/>
                <a:cs typeface="Tahoma"/>
              </a:rPr>
              <a:t>численностью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Tahoma"/>
                <a:cs typeface="Tahoma"/>
              </a:rPr>
              <a:t>2</a:t>
            </a:r>
            <a:r>
              <a:rPr lang="ru-RU" sz="900" spc="-45" dirty="0">
                <a:solidFill>
                  <a:srgbClr val="22373A"/>
                </a:solidFill>
                <a:latin typeface="Tahoma"/>
                <a:cs typeface="Tahoma"/>
              </a:rPr>
              <a:t>1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lang="ru-RU" sz="900" dirty="0">
                <a:solidFill>
                  <a:srgbClr val="22373A"/>
                </a:solidFill>
                <a:latin typeface="Tahoma"/>
                <a:cs typeface="Tahoma"/>
              </a:rPr>
              <a:t>5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человек,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а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распоряжении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страны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𝑌</a:t>
            </a:r>
            <a:r>
              <a:rPr sz="1100" spc="9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армия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численностью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 </a:t>
            </a:r>
            <a:r>
              <a:rPr lang="ru-RU" sz="900" spc="-30" dirty="0">
                <a:solidFill>
                  <a:srgbClr val="22373A"/>
                </a:solidFill>
                <a:latin typeface="Tahoma"/>
                <a:cs typeface="Tahoma"/>
              </a:rPr>
              <a:t>89 0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sz="9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человек.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Для</a:t>
            </a:r>
            <a:r>
              <a:rPr sz="9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упрощения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модели</a:t>
            </a:r>
            <a:r>
              <a:rPr sz="9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считаем,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что</a:t>
            </a:r>
            <a:r>
              <a:rPr sz="9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коэффициенты</a:t>
            </a:r>
            <a:r>
              <a:rPr sz="9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Cambria"/>
                <a:cs typeface="Cambria"/>
              </a:rPr>
              <a:t>𝑎</a:t>
            </a:r>
            <a:r>
              <a:rPr sz="900" spc="-55" dirty="0">
                <a:solidFill>
                  <a:srgbClr val="22373A"/>
                </a:solidFill>
                <a:latin typeface="Tahoma"/>
                <a:cs typeface="Tahoma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spc="-105" dirty="0">
                <a:solidFill>
                  <a:srgbClr val="22373A"/>
                </a:solidFill>
                <a:latin typeface="Cambria"/>
                <a:cs typeface="Cambria"/>
              </a:rPr>
              <a:t>𝑏</a:t>
            </a:r>
            <a:r>
              <a:rPr sz="900" spc="-105" dirty="0">
                <a:solidFill>
                  <a:srgbClr val="22373A"/>
                </a:solidFill>
                <a:latin typeface="Tahoma"/>
                <a:cs typeface="Tahoma"/>
              </a:rPr>
              <a:t>,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Cambria"/>
                <a:cs typeface="Cambria"/>
              </a:rPr>
              <a:t>𝑐</a:t>
            </a:r>
            <a:r>
              <a:rPr sz="900" spc="-55" dirty="0">
                <a:solidFill>
                  <a:srgbClr val="22373A"/>
                </a:solidFill>
                <a:latin typeface="Tahoma"/>
                <a:cs typeface="Tahoma"/>
              </a:rPr>
              <a:t>,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mbria"/>
                <a:cs typeface="Cambria"/>
              </a:rPr>
              <a:t>ℎ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постоянны.</a:t>
            </a:r>
            <a:r>
              <a:rPr sz="900" spc="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Также</a:t>
            </a:r>
            <a:r>
              <a:rPr sz="900" spc="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считаем</a:t>
            </a:r>
            <a:r>
              <a:rPr sz="900" spc="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𝑃</a:t>
            </a:r>
            <a:r>
              <a:rPr sz="1100" spc="-4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(𝑡)</a:t>
            </a:r>
            <a:r>
              <a:rPr sz="1100" spc="9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𝑄(𝑡)</a:t>
            </a:r>
            <a:r>
              <a:rPr sz="1100" spc="9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непрерывные</a:t>
            </a:r>
            <a:r>
              <a:rPr sz="900" spc="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функции.</a:t>
            </a:r>
            <a:endParaRPr sz="9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52"/>
            <a:ext cx="4476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Задачи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1066800" cy="5080"/>
            </a:xfrm>
            <a:custGeom>
              <a:avLst/>
              <a:gdLst/>
              <a:ahLst/>
              <a:cxnLst/>
              <a:rect l="l" t="t" r="r" b="b"/>
              <a:pathLst>
                <a:path w="1066800" h="5079">
                  <a:moveTo>
                    <a:pt x="0" y="5060"/>
                  </a:moveTo>
                  <a:lnTo>
                    <a:pt x="0" y="0"/>
                  </a:lnTo>
                  <a:lnTo>
                    <a:pt x="1066654" y="0"/>
                  </a:lnTo>
                  <a:lnTo>
                    <a:pt x="10666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156963"/>
            <a:ext cx="5066030" cy="94741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67970">
              <a:lnSpc>
                <a:spcPct val="133200"/>
              </a:lnSpc>
              <a:spcBef>
                <a:spcPts val="180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Построить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графики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изменения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численности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войск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армии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spc="210" dirty="0">
                <a:solidFill>
                  <a:srgbClr val="22373A"/>
                </a:solidFill>
                <a:latin typeface="Cambria"/>
                <a:cs typeface="Cambria"/>
              </a:rPr>
              <a:t>𝑋</a:t>
            </a:r>
            <a:r>
              <a:rPr sz="1100" spc="12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армии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𝑌</a:t>
            </a:r>
            <a:r>
              <a:rPr sz="1100" spc="12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для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следующих случаев: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00">
              <a:latin typeface="Tahoma"/>
              <a:cs typeface="Tahoma"/>
            </a:endParaRPr>
          </a:p>
          <a:p>
            <a:pPr marL="290195" indent="-142875">
              <a:lnSpc>
                <a:spcPct val="100000"/>
              </a:lnSpc>
              <a:buAutoNum type="arabicPeriod"/>
              <a:tabLst>
                <a:tab pos="290195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Модель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боевых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действий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между</a:t>
            </a:r>
            <a:r>
              <a:rPr sz="900" spc="1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регулярными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войсками</a:t>
            </a:r>
            <a:endParaRPr sz="900">
              <a:latin typeface="Tahoma"/>
              <a:cs typeface="Tahoma"/>
            </a:endParaRPr>
          </a:p>
          <a:p>
            <a:pPr marL="290830" indent="-151130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290830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Модель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ведение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боевых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действий</a:t>
            </a:r>
            <a:r>
              <a:rPr sz="9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участием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регулярных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войск</a:t>
            </a:r>
            <a:r>
              <a:rPr sz="9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партизанских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отрядов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82852"/>
            <a:ext cx="12922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Материалы</a:t>
            </a:r>
            <a:r>
              <a:rPr sz="1000" spc="-1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и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 методы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8793"/>
              <a:ext cx="1280160" cy="5080"/>
            </a:xfrm>
            <a:custGeom>
              <a:avLst/>
              <a:gdLst/>
              <a:ahLst/>
              <a:cxnLst/>
              <a:rect l="l" t="t" r="r" b="b"/>
              <a:pathLst>
                <a:path w="1280160" h="5079">
                  <a:moveTo>
                    <a:pt x="0" y="5060"/>
                  </a:moveTo>
                  <a:lnTo>
                    <a:pt x="0" y="0"/>
                  </a:lnTo>
                  <a:lnTo>
                    <a:pt x="1280055" y="0"/>
                  </a:lnTo>
                  <a:lnTo>
                    <a:pt x="1280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1360" y="1272289"/>
            <a:ext cx="1882775" cy="763029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16839" indent="-104139">
              <a:lnSpc>
                <a:spcPct val="100000"/>
              </a:lnSpc>
              <a:spcBef>
                <a:spcPts val="570"/>
              </a:spcBef>
              <a:buChar char="•"/>
              <a:tabLst>
                <a:tab pos="116839" algn="l"/>
              </a:tabLst>
            </a:pPr>
            <a:r>
              <a:rPr sz="900" spc="20" dirty="0">
                <a:solidFill>
                  <a:srgbClr val="22373A"/>
                </a:solidFill>
                <a:latin typeface="Tahoma"/>
                <a:cs typeface="Tahoma"/>
              </a:rPr>
              <a:t>Язык</a:t>
            </a:r>
            <a:r>
              <a:rPr sz="9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2373A"/>
                </a:solidFill>
                <a:latin typeface="Tahoma"/>
                <a:cs typeface="Tahoma"/>
              </a:rPr>
              <a:t>программирования</a:t>
            </a:r>
            <a:r>
              <a:rPr sz="9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Julia</a:t>
            </a:r>
            <a:endParaRPr sz="900" dirty="0">
              <a:latin typeface="Courier New"/>
              <a:cs typeface="Courier New"/>
            </a:endParaRPr>
          </a:p>
          <a:p>
            <a:pPr marL="116839" indent="-104139">
              <a:lnSpc>
                <a:spcPct val="100000"/>
              </a:lnSpc>
              <a:spcBef>
                <a:spcPts val="480"/>
              </a:spcBef>
              <a:buChar char="•"/>
              <a:tabLst>
                <a:tab pos="116839" algn="l"/>
              </a:tabLst>
            </a:pP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Библиотеки</a:t>
            </a:r>
            <a:endParaRPr sz="900" dirty="0">
              <a:latin typeface="Tahoma"/>
              <a:cs typeface="Tahoma"/>
            </a:endParaRPr>
          </a:p>
          <a:p>
            <a:pPr marL="390525" lvl="1" indent="-98425">
              <a:lnSpc>
                <a:spcPct val="100000"/>
              </a:lnSpc>
              <a:spcBef>
                <a:spcPts val="395"/>
              </a:spcBef>
              <a:buSzPct val="106250"/>
              <a:buFont typeface="Tahoma"/>
              <a:buChar char="•"/>
              <a:tabLst>
                <a:tab pos="390525" algn="l"/>
              </a:tabLst>
            </a:pPr>
            <a:r>
              <a:rPr lang="en-US" sz="800" spc="-10" dirty="0" err="1">
                <a:solidFill>
                  <a:srgbClr val="22373A"/>
                </a:solidFill>
                <a:latin typeface="Courier New"/>
                <a:cs typeface="Courier New"/>
              </a:rPr>
              <a:t>DifferentialEquations</a:t>
            </a:r>
            <a:endParaRPr lang="ru-RU" sz="800" spc="-10" dirty="0">
              <a:solidFill>
                <a:srgbClr val="22373A"/>
              </a:solidFill>
              <a:latin typeface="Courier New"/>
              <a:cs typeface="Courier New"/>
            </a:endParaRPr>
          </a:p>
          <a:p>
            <a:pPr marL="390525" lvl="1" indent="-98425">
              <a:lnSpc>
                <a:spcPct val="100000"/>
              </a:lnSpc>
              <a:spcBef>
                <a:spcPts val="395"/>
              </a:spcBef>
              <a:buSzPct val="106250"/>
              <a:buFont typeface="Tahoma"/>
              <a:buChar char="•"/>
              <a:tabLst>
                <a:tab pos="390525" algn="l"/>
              </a:tabLst>
            </a:pPr>
            <a:r>
              <a:rPr sz="800" spc="-10" dirty="0">
                <a:solidFill>
                  <a:srgbClr val="22373A"/>
                </a:solidFill>
                <a:latin typeface="Courier New"/>
                <a:cs typeface="Courier New"/>
              </a:rPr>
              <a:t>Plots</a:t>
            </a:r>
            <a:endParaRPr sz="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3491" y="1323674"/>
            <a:ext cx="2581910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22373A"/>
                </a:solidFill>
                <a:latin typeface="Microsoft Sans Serif"/>
                <a:cs typeface="Microsoft Sans Serif"/>
                <a:hlinkClick r:id="rId2" action="ppaction://hlinksldjump"/>
              </a:rPr>
              <a:t>Выполнение</a:t>
            </a:r>
            <a:r>
              <a:rPr sz="1200" spc="175" dirty="0">
                <a:solidFill>
                  <a:srgbClr val="22373A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1200" dirty="0">
                <a:solidFill>
                  <a:srgbClr val="22373A"/>
                </a:solidFill>
                <a:latin typeface="Microsoft Sans Serif"/>
                <a:cs typeface="Microsoft Sans Serif"/>
                <a:hlinkClick r:id="rId2" action="ppaction://hlinksldjump"/>
              </a:rPr>
              <a:t>лабораторной</a:t>
            </a:r>
            <a:r>
              <a:rPr sz="1200" spc="175" dirty="0">
                <a:solidFill>
                  <a:srgbClr val="22373A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Microsoft Sans Serif"/>
                <a:cs typeface="Microsoft Sans Serif"/>
                <a:hlinkClick r:id="rId2" action="ppaction://hlinksldjump"/>
              </a:rPr>
              <a:t>работы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86191" y="1665827"/>
            <a:ext cx="2588260" cy="5080"/>
            <a:chOff x="1586191" y="1665827"/>
            <a:chExt cx="2588260" cy="5080"/>
          </a:xfrm>
        </p:grpSpPr>
        <p:sp>
          <p:nvSpPr>
            <p:cNvPr id="4" name="object 4"/>
            <p:cNvSpPr/>
            <p:nvPr/>
          </p:nvSpPr>
          <p:spPr>
            <a:xfrm>
              <a:off x="1586191" y="1665827"/>
              <a:ext cx="2588260" cy="5080"/>
            </a:xfrm>
            <a:custGeom>
              <a:avLst/>
              <a:gdLst/>
              <a:ahLst/>
              <a:cxnLst/>
              <a:rect l="l" t="t" r="r" b="b"/>
              <a:pathLst>
                <a:path w="2588260" h="5080">
                  <a:moveTo>
                    <a:pt x="0" y="5060"/>
                  </a:moveTo>
                  <a:lnTo>
                    <a:pt x="0" y="0"/>
                  </a:lnTo>
                  <a:lnTo>
                    <a:pt x="2587637" y="0"/>
                  </a:lnTo>
                  <a:lnTo>
                    <a:pt x="25876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6191" y="1665827"/>
              <a:ext cx="575310" cy="5080"/>
            </a:xfrm>
            <a:custGeom>
              <a:avLst/>
              <a:gdLst/>
              <a:ahLst/>
              <a:cxnLst/>
              <a:rect l="l" t="t" r="r" b="b"/>
              <a:pathLst>
                <a:path w="575310" h="5080">
                  <a:moveTo>
                    <a:pt x="0" y="5060"/>
                  </a:moveTo>
                  <a:lnTo>
                    <a:pt x="0" y="0"/>
                  </a:lnTo>
                  <a:lnTo>
                    <a:pt x="575047" y="0"/>
                  </a:lnTo>
                  <a:lnTo>
                    <a:pt x="5750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Модель</a:t>
            </a:r>
            <a:r>
              <a:rPr spc="40" dirty="0"/>
              <a:t> </a:t>
            </a:r>
            <a:r>
              <a:rPr dirty="0"/>
              <a:t>боевых</a:t>
            </a:r>
            <a:r>
              <a:rPr spc="40" dirty="0"/>
              <a:t> </a:t>
            </a:r>
            <a:r>
              <a:rPr dirty="0"/>
              <a:t>действий</a:t>
            </a:r>
            <a:r>
              <a:rPr spc="40" dirty="0"/>
              <a:t> </a:t>
            </a:r>
            <a:r>
              <a:rPr spc="-10" dirty="0"/>
              <a:t>между</a:t>
            </a:r>
            <a:r>
              <a:rPr spc="40" dirty="0"/>
              <a:t> </a:t>
            </a:r>
            <a:r>
              <a:rPr dirty="0"/>
              <a:t>регулярными</a:t>
            </a:r>
            <a:r>
              <a:rPr spc="40" dirty="0"/>
              <a:t> </a:t>
            </a:r>
            <a:r>
              <a:rPr spc="-10" dirty="0"/>
              <a:t>войсками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1493520" cy="5080"/>
            </a:xfrm>
            <a:custGeom>
              <a:avLst/>
              <a:gdLst/>
              <a:ahLst/>
              <a:cxnLst/>
              <a:rect l="l" t="t" r="r" b="b"/>
              <a:pathLst>
                <a:path w="1493520" h="5079">
                  <a:moveTo>
                    <a:pt x="0" y="5060"/>
                  </a:moveTo>
                  <a:lnTo>
                    <a:pt x="0" y="0"/>
                  </a:lnTo>
                  <a:lnTo>
                    <a:pt x="1493368" y="0"/>
                  </a:lnTo>
                  <a:lnTo>
                    <a:pt x="149336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709648" y="1040472"/>
            <a:ext cx="159385" cy="0"/>
          </a:xfrm>
          <a:custGeom>
            <a:avLst/>
            <a:gdLst/>
            <a:ahLst/>
            <a:cxnLst/>
            <a:rect l="l" t="t" r="r" b="b"/>
            <a:pathLst>
              <a:path w="159385">
                <a:moveTo>
                  <a:pt x="0" y="0"/>
                </a:moveTo>
                <a:lnTo>
                  <a:pt x="159283" y="0"/>
                </a:lnTo>
              </a:path>
            </a:pathLst>
          </a:custGeom>
          <a:ln w="5702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09648" y="1335608"/>
            <a:ext cx="147955" cy="0"/>
          </a:xfrm>
          <a:custGeom>
            <a:avLst/>
            <a:gdLst/>
            <a:ahLst/>
            <a:cxnLst/>
            <a:rect l="l" t="t" r="r" b="b"/>
            <a:pathLst>
              <a:path w="147955">
                <a:moveTo>
                  <a:pt x="0" y="0"/>
                </a:moveTo>
                <a:lnTo>
                  <a:pt x="147574" y="0"/>
                </a:lnTo>
              </a:path>
            </a:pathLst>
          </a:custGeom>
          <a:ln w="5702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9194" y="920734"/>
            <a:ext cx="3841115" cy="146963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ru-RU" sz="11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lang="ru-RU" sz="11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lang="ru-RU" sz="11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10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Начальные</a:t>
            </a:r>
            <a:r>
              <a:rPr sz="900" spc="1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условия:</a:t>
            </a:r>
            <a:endParaRPr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 dirty="0">
              <a:latin typeface="Tahoma"/>
              <a:cs typeface="Tahoma"/>
            </a:endParaRPr>
          </a:p>
          <a:p>
            <a:pPr marL="1167130" algn="ctr">
              <a:lnSpc>
                <a:spcPct val="100000"/>
              </a:lnSpc>
            </a:pPr>
            <a:endParaRPr sz="1100" dirty="0">
              <a:latin typeface="Cambria"/>
              <a:cs typeface="Cambria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F06201A-973A-21B4-EB57-AE1A65498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709" y="1032217"/>
            <a:ext cx="2514600" cy="87569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Модель</a:t>
            </a:r>
            <a:r>
              <a:rPr spc="40" dirty="0"/>
              <a:t> </a:t>
            </a:r>
            <a:r>
              <a:rPr dirty="0"/>
              <a:t>боевых</a:t>
            </a:r>
            <a:r>
              <a:rPr spc="40" dirty="0"/>
              <a:t> </a:t>
            </a:r>
            <a:r>
              <a:rPr dirty="0"/>
              <a:t>действий</a:t>
            </a:r>
            <a:r>
              <a:rPr spc="40" dirty="0"/>
              <a:t> </a:t>
            </a:r>
            <a:r>
              <a:rPr spc="-10" dirty="0"/>
              <a:t>между</a:t>
            </a:r>
            <a:r>
              <a:rPr spc="40" dirty="0"/>
              <a:t> </a:t>
            </a:r>
            <a:r>
              <a:rPr dirty="0"/>
              <a:t>регулярными</a:t>
            </a:r>
            <a:r>
              <a:rPr spc="40" dirty="0"/>
              <a:t> </a:t>
            </a:r>
            <a:r>
              <a:rPr spc="-10" dirty="0"/>
              <a:t>войсками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1706880" cy="5080"/>
            </a:xfrm>
            <a:custGeom>
              <a:avLst/>
              <a:gdLst/>
              <a:ahLst/>
              <a:cxnLst/>
              <a:rect l="l" t="t" r="r" b="b"/>
              <a:pathLst>
                <a:path w="1706880" h="5079">
                  <a:moveTo>
                    <a:pt x="0" y="5060"/>
                  </a:moveTo>
                  <a:lnTo>
                    <a:pt x="0" y="0"/>
                  </a:lnTo>
                  <a:lnTo>
                    <a:pt x="1706681" y="0"/>
                  </a:lnTo>
                  <a:lnTo>
                    <a:pt x="17066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237045"/>
            <a:ext cx="1916430" cy="958596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x0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lang="ru-RU"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lang="ru-RU" sz="900" spc="-10" dirty="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y0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ru-RU" sz="900" spc="-10" dirty="0">
                <a:solidFill>
                  <a:srgbClr val="3FA070"/>
                </a:solidFill>
                <a:latin typeface="Courier New"/>
                <a:cs typeface="Courier New"/>
              </a:rPr>
              <a:t>89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00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p1</a:t>
            </a:r>
            <a:r>
              <a:rPr sz="900" spc="4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[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0.</a:t>
            </a:r>
            <a:r>
              <a:rPr lang="ru-RU" sz="900" dirty="0">
                <a:solidFill>
                  <a:srgbClr val="3FA070"/>
                </a:solidFill>
                <a:latin typeface="Courier New"/>
                <a:cs typeface="Courier New"/>
              </a:rPr>
              <a:t>32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4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0.64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0.</a:t>
            </a:r>
            <a:r>
              <a:rPr lang="ru-RU" sz="900" dirty="0">
                <a:solidFill>
                  <a:srgbClr val="3FA070"/>
                </a:solidFill>
                <a:latin typeface="Courier New"/>
                <a:cs typeface="Courier New"/>
              </a:rPr>
              <a:t>44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4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A070"/>
                </a:solidFill>
                <a:latin typeface="Courier New"/>
                <a:cs typeface="Courier New"/>
              </a:rPr>
              <a:t>0.</a:t>
            </a:r>
            <a:r>
              <a:rPr lang="ru-RU" sz="900" spc="-20" dirty="0">
                <a:solidFill>
                  <a:srgbClr val="3FA070"/>
                </a:solidFill>
                <a:latin typeface="Courier New"/>
                <a:cs typeface="Courier New"/>
              </a:rPr>
              <a:t>52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]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dirty="0" err="1">
                <a:solidFill>
                  <a:srgbClr val="22373A"/>
                </a:solidFill>
                <a:latin typeface="Courier New"/>
                <a:cs typeface="Courier New"/>
              </a:rPr>
              <a:t>tspan</a:t>
            </a:r>
            <a:r>
              <a:rPr sz="900" spc="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4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sz="9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Модель</a:t>
            </a:r>
            <a:r>
              <a:rPr spc="40" dirty="0"/>
              <a:t> </a:t>
            </a:r>
            <a:r>
              <a:rPr dirty="0"/>
              <a:t>боевых</a:t>
            </a:r>
            <a:r>
              <a:rPr spc="40" dirty="0"/>
              <a:t> </a:t>
            </a:r>
            <a:r>
              <a:rPr dirty="0"/>
              <a:t>действий</a:t>
            </a:r>
            <a:r>
              <a:rPr spc="40" dirty="0"/>
              <a:t> </a:t>
            </a:r>
            <a:r>
              <a:rPr spc="-10" dirty="0"/>
              <a:t>между</a:t>
            </a:r>
            <a:r>
              <a:rPr spc="40" dirty="0"/>
              <a:t> </a:t>
            </a:r>
            <a:r>
              <a:rPr dirty="0"/>
              <a:t>регулярными</a:t>
            </a:r>
            <a:r>
              <a:rPr spc="40" dirty="0"/>
              <a:t> </a:t>
            </a:r>
            <a:r>
              <a:rPr spc="-10" dirty="0"/>
              <a:t>войсками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1920239" cy="5080"/>
            </a:xfrm>
            <a:custGeom>
              <a:avLst/>
              <a:gdLst/>
              <a:ahLst/>
              <a:cxnLst/>
              <a:rect l="l" t="t" r="r" b="b"/>
              <a:pathLst>
                <a:path w="1920239" h="5079">
                  <a:moveTo>
                    <a:pt x="0" y="5060"/>
                  </a:moveTo>
                  <a:lnTo>
                    <a:pt x="0" y="0"/>
                  </a:lnTo>
                  <a:lnTo>
                    <a:pt x="1919995" y="0"/>
                  </a:lnTo>
                  <a:lnTo>
                    <a:pt x="1919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544451"/>
            <a:ext cx="3634008" cy="1951560"/>
          </a:xfrm>
          <a:prstGeom prst="rect">
            <a:avLst/>
          </a:prstGeom>
        </p:spPr>
        <p:txBody>
          <a:bodyPr vert="horz" wrap="none" lIns="0" tIns="12065" rIns="0" bIns="0" rtlCol="0">
            <a:spAutoFit/>
          </a:bodyPr>
          <a:lstStyle/>
          <a:p>
            <a:pPr marL="292735" marR="1476375" indent="-280670">
              <a:lnSpc>
                <a:spcPct val="144300"/>
              </a:lnSpc>
              <a:spcBef>
                <a:spcPts val="95"/>
              </a:spcBef>
            </a:pPr>
            <a:r>
              <a:rPr lang="en-US" sz="900" dirty="0">
                <a:solidFill>
                  <a:srgbClr val="007021"/>
                </a:solidFill>
                <a:latin typeface="Courier New"/>
                <a:cs typeface="Courier New"/>
              </a:rPr>
              <a:t>F</a:t>
            </a:r>
            <a:r>
              <a:rPr sz="900" dirty="0">
                <a:solidFill>
                  <a:srgbClr val="007021"/>
                </a:solidFill>
                <a:latin typeface="Courier New"/>
                <a:cs typeface="Courier New"/>
              </a:rPr>
              <a:t>unction</a:t>
            </a:r>
            <a:r>
              <a:rPr lang="en-US" sz="900" spc="95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f1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lang="en-US" sz="900" spc="-10" dirty="0">
                <a:solidFill>
                  <a:srgbClr val="22373A"/>
                </a:solidFill>
                <a:latin typeface="Courier New"/>
                <a:cs typeface="Courier New"/>
              </a:rPr>
              <a:t>d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u</a:t>
            </a:r>
            <a:r>
              <a:rPr lang="en-US" sz="900" spc="-10" dirty="0">
                <a:solidFill>
                  <a:srgbClr val="22373A"/>
                </a:solidFill>
                <a:latin typeface="Courier New"/>
                <a:cs typeface="Courier New"/>
              </a:rPr>
              <a:t>, u, </a:t>
            </a:r>
            <a:r>
              <a:rPr sz="900" spc="-10" dirty="0" err="1">
                <a:solidFill>
                  <a:srgbClr val="22373A"/>
                </a:solidFill>
                <a:latin typeface="Courier New"/>
                <a:cs typeface="Courier New"/>
              </a:rPr>
              <a:t>p,t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 </a:t>
            </a:r>
            <a:endParaRPr sz="900" dirty="0">
              <a:latin typeface="Courier New"/>
              <a:cs typeface="Courier New"/>
            </a:endParaRPr>
          </a:p>
          <a:p>
            <a:pPr marL="292735" marR="635000">
              <a:lnSpc>
                <a:spcPct val="144300"/>
              </a:lnSpc>
            </a:pPr>
            <a:r>
              <a:rPr lang="en-US" sz="900" dirty="0">
                <a:solidFill>
                  <a:srgbClr val="22373A"/>
                </a:solidFill>
                <a:latin typeface="Courier New"/>
                <a:cs typeface="Courier New"/>
              </a:rPr>
              <a:t>du[1]</a:t>
            </a:r>
            <a:r>
              <a:rPr sz="900" spc="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4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lang="en-US" sz="900" dirty="0">
                <a:solidFill>
                  <a:srgbClr val="22373A"/>
                </a:solidFill>
                <a:latin typeface="Courier New"/>
                <a:cs typeface="Courier New"/>
              </a:rPr>
              <a:t>0.32*x</a:t>
            </a:r>
            <a:r>
              <a:rPr sz="900" spc="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lang="en-US" sz="900" spc="40" dirty="0">
                <a:solidFill>
                  <a:srgbClr val="666666"/>
                </a:solidFill>
                <a:latin typeface="Courier New"/>
                <a:cs typeface="Courier New"/>
              </a:rPr>
              <a:t>–</a:t>
            </a:r>
            <a:r>
              <a:rPr sz="900" spc="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900" spc="-10" dirty="0">
                <a:solidFill>
                  <a:srgbClr val="05287C"/>
                </a:solidFill>
                <a:latin typeface="Courier New"/>
                <a:cs typeface="Courier New"/>
              </a:rPr>
              <a:t>0.72</a:t>
            </a:r>
            <a:r>
              <a:rPr lang="en-US" sz="900" spc="-10" dirty="0">
                <a:solidFill>
                  <a:srgbClr val="22373A"/>
                </a:solidFill>
                <a:latin typeface="Courier New"/>
                <a:cs typeface="Courier New"/>
              </a:rPr>
              <a:t>y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lang="en-US" sz="9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lang="en-US" sz="900" spc="-10" dirty="0">
                <a:solidFill>
                  <a:schemeClr val="tx1"/>
                </a:solidFill>
                <a:latin typeface="Courier New"/>
                <a:cs typeface="Courier New"/>
              </a:rPr>
              <a:t>*</a:t>
            </a:r>
            <a:r>
              <a:rPr lang="en-US" sz="900" spc="-10" dirty="0">
                <a:solidFill>
                  <a:srgbClr val="05287C"/>
                </a:solidFill>
                <a:latin typeface="Courier New"/>
                <a:cs typeface="Courier New"/>
              </a:rPr>
              <a:t>abs</a:t>
            </a:r>
            <a:r>
              <a:rPr lang="en-US" sz="900" spc="-10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lang="en-US" sz="900" spc="-10" dirty="0">
                <a:solidFill>
                  <a:schemeClr val="tx1"/>
                </a:solidFill>
                <a:latin typeface="Courier New"/>
                <a:cs typeface="Courier New"/>
              </a:rPr>
              <a:t>(t))</a:t>
            </a:r>
          </a:p>
          <a:p>
            <a:pPr marL="12700">
              <a:spcBef>
                <a:spcPts val="475"/>
              </a:spcBef>
            </a:pPr>
            <a:r>
              <a:rPr lang="en-US" sz="900" dirty="0">
                <a:solidFill>
                  <a:srgbClr val="22373A"/>
                </a:solidFill>
                <a:latin typeface="Courier New"/>
                <a:cs typeface="Courier New"/>
              </a:rPr>
              <a:t>    du[2]</a:t>
            </a:r>
            <a:r>
              <a:rPr lang="en-US" sz="900" spc="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lang="en-US"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900" spc="4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lang="en-US" sz="900" dirty="0">
                <a:solidFill>
                  <a:srgbClr val="22373A"/>
                </a:solidFill>
                <a:latin typeface="Courier New"/>
                <a:cs typeface="Courier New"/>
              </a:rPr>
              <a:t>0.44*x</a:t>
            </a:r>
            <a:r>
              <a:rPr lang="en-US" sz="900" spc="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lang="en-US" sz="900" spc="40" dirty="0">
                <a:solidFill>
                  <a:srgbClr val="666666"/>
                </a:solidFill>
                <a:latin typeface="Courier New"/>
                <a:cs typeface="Courier New"/>
              </a:rPr>
              <a:t>–</a:t>
            </a:r>
            <a:r>
              <a:rPr lang="en-US" sz="900" spc="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900" spc="-10" dirty="0">
                <a:solidFill>
                  <a:srgbClr val="05287C"/>
                </a:solidFill>
                <a:latin typeface="Courier New"/>
                <a:cs typeface="Courier New"/>
              </a:rPr>
              <a:t>0.52</a:t>
            </a:r>
            <a:r>
              <a:rPr lang="en-US" sz="900" spc="-10" dirty="0">
                <a:solidFill>
                  <a:srgbClr val="22373A"/>
                </a:solidFill>
                <a:latin typeface="Courier New"/>
                <a:cs typeface="Courier New"/>
              </a:rPr>
              <a:t>y </a:t>
            </a:r>
            <a:r>
              <a:rPr lang="en-US" sz="900" spc="-10" dirty="0">
                <a:solidFill>
                  <a:srgbClr val="666666"/>
                </a:solidFill>
                <a:latin typeface="Courier New"/>
                <a:cs typeface="Courier New"/>
              </a:rPr>
              <a:t>+ </a:t>
            </a:r>
            <a:r>
              <a:rPr lang="en-US"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lang="en-US" sz="900" spc="-10" dirty="0">
                <a:solidFill>
                  <a:schemeClr val="tx1"/>
                </a:solidFill>
                <a:latin typeface="Courier New"/>
                <a:cs typeface="Courier New"/>
              </a:rPr>
              <a:t>*</a:t>
            </a:r>
            <a:r>
              <a:rPr lang="en-US" sz="900" spc="-10" dirty="0">
                <a:solidFill>
                  <a:srgbClr val="05287C"/>
                </a:solidFill>
                <a:latin typeface="Courier New"/>
                <a:cs typeface="Courier New"/>
              </a:rPr>
              <a:t>abs</a:t>
            </a:r>
            <a:r>
              <a:rPr lang="en-US" sz="900" spc="-10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900" spc="-10" dirty="0">
                <a:solidFill>
                  <a:srgbClr val="05287C"/>
                </a:solidFill>
                <a:latin typeface="Courier New"/>
                <a:cs typeface="Courier New"/>
              </a:rPr>
              <a:t>cos</a:t>
            </a:r>
            <a:r>
              <a:rPr lang="en-US" sz="900" spc="-10" dirty="0">
                <a:solidFill>
                  <a:schemeClr val="tx1"/>
                </a:solidFill>
                <a:latin typeface="Courier New"/>
                <a:cs typeface="Courier New"/>
              </a:rPr>
              <a:t>(t))</a:t>
            </a: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spc="-25" dirty="0">
                <a:solidFill>
                  <a:srgbClr val="007021"/>
                </a:solidFill>
                <a:latin typeface="Courier New"/>
                <a:cs typeface="Courier New"/>
              </a:rPr>
              <a:t>end</a:t>
            </a:r>
            <a:endParaRPr sz="900" dirty="0">
              <a:latin typeface="Courier New"/>
              <a:cs typeface="Courier New"/>
            </a:endParaRPr>
          </a:p>
          <a:p>
            <a:pPr marL="12700" marR="5080">
              <a:lnSpc>
                <a:spcPct val="288500"/>
              </a:lnSpc>
              <a:spcBef>
                <a:spcPts val="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prob1</a:t>
            </a:r>
            <a:r>
              <a:rPr sz="900" spc="1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1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ODEProblem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(f1,</a:t>
            </a:r>
            <a:r>
              <a:rPr lang="en-US" sz="900" dirty="0">
                <a:solidFill>
                  <a:srgbClr val="22373A"/>
                </a:solidFill>
                <a:latin typeface="Courier New"/>
                <a:cs typeface="Courier New"/>
              </a:rPr>
              <a:t> u0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1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 err="1">
                <a:solidFill>
                  <a:srgbClr val="22373A"/>
                </a:solidFill>
                <a:latin typeface="Courier New"/>
                <a:cs typeface="Courier New"/>
              </a:rPr>
              <a:t>tspan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lang="en-US" sz="900" spc="-10" dirty="0">
              <a:solidFill>
                <a:srgbClr val="22373A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288500"/>
              </a:lnSpc>
              <a:spcBef>
                <a:spcPts val="5"/>
              </a:spcBef>
            </a:pPr>
            <a:r>
              <a:rPr lang="en-US" sz="900" dirty="0">
                <a:solidFill>
                  <a:srgbClr val="05287C"/>
                </a:solidFill>
                <a:latin typeface="Courier New"/>
                <a:cs typeface="Courier New"/>
              </a:rPr>
              <a:t>s</a:t>
            </a: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ol</a:t>
            </a:r>
            <a:r>
              <a:rPr lang="en-US" sz="900" dirty="0">
                <a:solidFill>
                  <a:srgbClr val="05287C"/>
                </a:solidFill>
                <a:latin typeface="Courier New"/>
                <a:cs typeface="Courier New"/>
              </a:rPr>
              <a:t> = Solve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(pro</a:t>
            </a:r>
            <a:r>
              <a:rPr lang="en-US" sz="900" spc="-10" dirty="0">
                <a:solidFill>
                  <a:srgbClr val="22373A"/>
                </a:solidFill>
                <a:latin typeface="Courier New"/>
                <a:cs typeface="Courier New"/>
              </a:rPr>
              <a:t>b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lang="ru-RU" sz="900" spc="-10" dirty="0">
              <a:solidFill>
                <a:srgbClr val="22373A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288500"/>
              </a:lnSpc>
              <a:spcBef>
                <a:spcPts val="5"/>
              </a:spcBef>
            </a:pPr>
            <a:endParaRPr sz="9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82852"/>
            <a:ext cx="34226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Модель</a:t>
            </a:r>
            <a:r>
              <a:rPr sz="1000" spc="4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боевых</a:t>
            </a:r>
            <a:r>
              <a:rPr sz="1000" spc="4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действий</a:t>
            </a:r>
            <a:r>
              <a:rPr sz="1000" spc="4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между</a:t>
            </a:r>
            <a:r>
              <a:rPr sz="1000" spc="4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регулярными</a:t>
            </a:r>
            <a:r>
              <a:rPr sz="1000" spc="4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войсками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8793"/>
            <a:ext cx="5760085" cy="2399665"/>
            <a:chOff x="0" y="358793"/>
            <a:chExt cx="5760085" cy="2399665"/>
          </a:xfrm>
        </p:grpSpPr>
        <p:sp>
          <p:nvSpPr>
            <p:cNvPr id="5" name="object 5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8793"/>
              <a:ext cx="2346960" cy="5080"/>
            </a:xfrm>
            <a:custGeom>
              <a:avLst/>
              <a:gdLst/>
              <a:ahLst/>
              <a:cxnLst/>
              <a:rect l="l" t="t" r="r" b="b"/>
              <a:pathLst>
                <a:path w="2346960" h="5079">
                  <a:moveTo>
                    <a:pt x="0" y="5060"/>
                  </a:moveTo>
                  <a:lnTo>
                    <a:pt x="0" y="0"/>
                  </a:lnTo>
                  <a:lnTo>
                    <a:pt x="2346709" y="0"/>
                  </a:lnTo>
                  <a:lnTo>
                    <a:pt x="23467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3" y="405917"/>
              <a:ext cx="3528136" cy="235209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845068" y="2913979"/>
            <a:ext cx="2070100" cy="18097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Рис. </a:t>
            </a:r>
            <a:r>
              <a:rPr sz="800" spc="-55" dirty="0">
                <a:solidFill>
                  <a:srgbClr val="22373A"/>
                </a:solidFill>
                <a:latin typeface="Microsoft Sans Serif"/>
                <a:cs typeface="Microsoft Sans Serif"/>
              </a:rPr>
              <a:t>1:</a:t>
            </a:r>
            <a:r>
              <a:rPr sz="8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Модель</a:t>
            </a:r>
            <a:r>
              <a:rPr sz="85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боевых</a:t>
            </a:r>
            <a:r>
              <a:rPr sz="85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действий</a:t>
            </a:r>
            <a:r>
              <a:rPr sz="85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85" dirty="0">
                <a:solidFill>
                  <a:srgbClr val="22373A"/>
                </a:solidFill>
                <a:latin typeface="Tahoma"/>
                <a:cs typeface="Tahoma"/>
              </a:rPr>
              <a:t>№1.</a:t>
            </a:r>
            <a:r>
              <a:rPr sz="85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ahoma"/>
                <a:cs typeface="Tahoma"/>
              </a:rPr>
              <a:t>Julia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31726" y="2992618"/>
            <a:ext cx="240029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650" spc="-30" dirty="0">
                <a:solidFill>
                  <a:srgbClr val="22373A"/>
                </a:solidFill>
                <a:latin typeface="Tahoma"/>
                <a:cs typeface="Tahoma"/>
              </a:rPr>
              <a:t>11/27</a:t>
            </a:r>
            <a:endParaRPr sz="650">
              <a:latin typeface="Tahoma"/>
              <a:cs typeface="Tahoma"/>
            </a:endParaRPr>
          </a:p>
        </p:txBody>
      </p:sp>
      <p:pic>
        <p:nvPicPr>
          <p:cNvPr id="12" name="Рисунок 11" descr="Изображение выглядит как линия, текст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7CDA85-CA84-E5B2-D56C-CD7BCAA08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923" y="405917"/>
            <a:ext cx="3843497" cy="243268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Модель</a:t>
            </a:r>
            <a:r>
              <a:rPr spc="45" dirty="0"/>
              <a:t> </a:t>
            </a:r>
            <a:r>
              <a:rPr dirty="0"/>
              <a:t>боевых</a:t>
            </a:r>
            <a:r>
              <a:rPr spc="50" dirty="0"/>
              <a:t> </a:t>
            </a:r>
            <a:r>
              <a:rPr dirty="0"/>
              <a:t>действий</a:t>
            </a:r>
            <a:r>
              <a:rPr spc="45" dirty="0"/>
              <a:t> </a:t>
            </a:r>
            <a:r>
              <a:rPr dirty="0"/>
              <a:t>с</a:t>
            </a:r>
            <a:r>
              <a:rPr spc="50" dirty="0"/>
              <a:t> </a:t>
            </a:r>
            <a:r>
              <a:rPr dirty="0"/>
              <a:t>участием</a:t>
            </a:r>
            <a:r>
              <a:rPr spc="45" dirty="0"/>
              <a:t> </a:t>
            </a:r>
            <a:r>
              <a:rPr dirty="0"/>
              <a:t>регулярных</a:t>
            </a:r>
            <a:r>
              <a:rPr spc="50" dirty="0"/>
              <a:t> </a:t>
            </a:r>
            <a:r>
              <a:rPr dirty="0"/>
              <a:t>войск</a:t>
            </a:r>
            <a:r>
              <a:rPr spc="45" dirty="0"/>
              <a:t> </a:t>
            </a:r>
            <a:r>
              <a:rPr dirty="0"/>
              <a:t>и</a:t>
            </a:r>
            <a:r>
              <a:rPr spc="50" dirty="0"/>
              <a:t> </a:t>
            </a:r>
            <a:r>
              <a:rPr dirty="0"/>
              <a:t>партизанских</a:t>
            </a:r>
            <a:r>
              <a:rPr spc="45" dirty="0"/>
              <a:t> </a:t>
            </a:r>
            <a:r>
              <a:rPr spc="-10" dirty="0"/>
              <a:t>отрядов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3200400" cy="5080"/>
            </a:xfrm>
            <a:custGeom>
              <a:avLst/>
              <a:gdLst/>
              <a:ahLst/>
              <a:cxnLst/>
              <a:rect l="l" t="t" r="r" b="b"/>
              <a:pathLst>
                <a:path w="3200400" h="5079">
                  <a:moveTo>
                    <a:pt x="0" y="5060"/>
                  </a:moveTo>
                  <a:lnTo>
                    <a:pt x="0" y="0"/>
                  </a:lnTo>
                  <a:lnTo>
                    <a:pt x="3200050" y="0"/>
                  </a:lnTo>
                  <a:lnTo>
                    <a:pt x="32000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673034" y="1563560"/>
            <a:ext cx="159385" cy="0"/>
          </a:xfrm>
          <a:custGeom>
            <a:avLst/>
            <a:gdLst/>
            <a:ahLst/>
            <a:cxnLst/>
            <a:rect l="l" t="t" r="r" b="b"/>
            <a:pathLst>
              <a:path w="159385">
                <a:moveTo>
                  <a:pt x="0" y="0"/>
                </a:moveTo>
                <a:lnTo>
                  <a:pt x="159283" y="0"/>
                </a:lnTo>
              </a:path>
            </a:pathLst>
          </a:custGeom>
          <a:ln w="5702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73034" y="1858695"/>
            <a:ext cx="147955" cy="0"/>
          </a:xfrm>
          <a:custGeom>
            <a:avLst/>
            <a:gdLst/>
            <a:ahLst/>
            <a:cxnLst/>
            <a:rect l="l" t="t" r="r" b="b"/>
            <a:pathLst>
              <a:path w="147955">
                <a:moveTo>
                  <a:pt x="0" y="0"/>
                </a:moveTo>
                <a:lnTo>
                  <a:pt x="147574" y="0"/>
                </a:lnTo>
              </a:path>
            </a:pathLst>
          </a:custGeom>
          <a:ln w="5702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78318" y="1443809"/>
            <a:ext cx="2670810" cy="4921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</a:pPr>
            <a:r>
              <a:rPr sz="1650" spc="-135" baseline="-7575" dirty="0">
                <a:solidFill>
                  <a:srgbClr val="22373A"/>
                </a:solidFill>
                <a:latin typeface="Cambria"/>
                <a:cs typeface="Cambria"/>
              </a:rPr>
              <a:t>{</a:t>
            </a:r>
            <a:r>
              <a:rPr sz="1650" spc="-135" baseline="22727" dirty="0">
                <a:solidFill>
                  <a:srgbClr val="22373A"/>
                </a:solidFill>
                <a:latin typeface="Cambria"/>
                <a:cs typeface="Cambria"/>
              </a:rPr>
              <a:t>⎧</a:t>
            </a:r>
            <a:r>
              <a:rPr sz="1650" spc="-187" baseline="22727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650" spc="-810" baseline="37878" dirty="0">
                <a:solidFill>
                  <a:srgbClr val="22373A"/>
                </a:solidFill>
                <a:latin typeface="Cambria"/>
                <a:cs typeface="Cambria"/>
              </a:rPr>
              <a:t>𝑑</a:t>
            </a:r>
            <a:r>
              <a:rPr sz="1650" spc="-187" baseline="-37878" dirty="0">
                <a:solidFill>
                  <a:srgbClr val="22373A"/>
                </a:solidFill>
                <a:latin typeface="Cambria"/>
                <a:cs typeface="Cambria"/>
              </a:rPr>
              <a:t>𝑑</a:t>
            </a:r>
            <a:r>
              <a:rPr sz="1650" spc="-757" baseline="37878" dirty="0">
                <a:solidFill>
                  <a:srgbClr val="22373A"/>
                </a:solidFill>
                <a:latin typeface="Cambria"/>
                <a:cs typeface="Cambria"/>
              </a:rPr>
              <a:t>𝑥</a:t>
            </a:r>
            <a:r>
              <a:rPr sz="1650" spc="-30" baseline="-37878" dirty="0">
                <a:solidFill>
                  <a:srgbClr val="22373A"/>
                </a:solidFill>
                <a:latin typeface="Cambria"/>
                <a:cs typeface="Cambria"/>
              </a:rPr>
              <a:t>𝑡</a:t>
            </a:r>
            <a:r>
              <a:rPr sz="1650" spc="442" baseline="-37878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22373A"/>
                </a:solidFill>
                <a:latin typeface="Cambria"/>
                <a:cs typeface="Cambria"/>
              </a:rPr>
              <a:t>=</a:t>
            </a:r>
            <a:r>
              <a:rPr sz="1100" spc="6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95" dirty="0">
                <a:solidFill>
                  <a:srgbClr val="22373A"/>
                </a:solidFill>
                <a:latin typeface="Cambria"/>
                <a:cs typeface="Cambria"/>
              </a:rPr>
              <a:t>−0,</a:t>
            </a:r>
            <a:r>
              <a:rPr sz="1100" spc="-5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35𝑥(𝑡)</a:t>
            </a:r>
            <a:r>
              <a:rPr sz="1100" spc="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1100" spc="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0,</a:t>
            </a:r>
            <a:r>
              <a:rPr sz="1100" spc="-5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mbria"/>
                <a:cs typeface="Cambria"/>
              </a:rPr>
              <a:t>67𝑦(𝑡)</a:t>
            </a:r>
            <a:r>
              <a:rPr sz="1100" spc="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22373A"/>
                </a:solidFill>
                <a:latin typeface="Cambria"/>
                <a:cs typeface="Cambria"/>
              </a:rPr>
              <a:t>+</a:t>
            </a:r>
            <a:r>
              <a:rPr sz="1100" spc="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sin</a:t>
            </a:r>
            <a:r>
              <a:rPr sz="1100" spc="-9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mbria"/>
                <a:cs typeface="Cambria"/>
              </a:rPr>
              <a:t>2𝑡</a:t>
            </a:r>
            <a:r>
              <a:rPr sz="1100" spc="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22373A"/>
                </a:solidFill>
                <a:latin typeface="Cambria"/>
                <a:cs typeface="Cambria"/>
              </a:rPr>
              <a:t>+</a:t>
            </a:r>
            <a:r>
              <a:rPr sz="1100" spc="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mbria"/>
                <a:cs typeface="Cambria"/>
              </a:rPr>
              <a:t>2</a:t>
            </a:r>
            <a:endParaRPr sz="1100">
              <a:latin typeface="Cambria"/>
              <a:cs typeface="Cambria"/>
            </a:endParaRPr>
          </a:p>
          <a:p>
            <a:pPr marL="50800">
              <a:lnSpc>
                <a:spcPts val="310"/>
              </a:lnSpc>
              <a:spcBef>
                <a:spcPts val="1005"/>
              </a:spcBef>
            </a:pPr>
            <a:r>
              <a:rPr sz="1650" spc="-697" baseline="-27777" dirty="0">
                <a:solidFill>
                  <a:srgbClr val="22373A"/>
                </a:solidFill>
                <a:latin typeface="Cambria"/>
                <a:cs typeface="Cambria"/>
              </a:rPr>
              <a:t>⎩</a:t>
            </a:r>
            <a:r>
              <a:rPr sz="1650" spc="434" baseline="2525" dirty="0">
                <a:solidFill>
                  <a:srgbClr val="22373A"/>
                </a:solidFill>
                <a:latin typeface="Cambria"/>
                <a:cs typeface="Cambria"/>
              </a:rPr>
              <a:t>{</a:t>
            </a:r>
            <a:r>
              <a:rPr sz="1650" spc="-82" baseline="252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650" spc="-82" baseline="-37878" dirty="0">
                <a:solidFill>
                  <a:srgbClr val="22373A"/>
                </a:solidFill>
                <a:latin typeface="Cambria"/>
                <a:cs typeface="Cambria"/>
              </a:rPr>
              <a:t>𝑑</a:t>
            </a:r>
            <a:r>
              <a:rPr sz="1650" spc="-810" baseline="37878" dirty="0">
                <a:solidFill>
                  <a:srgbClr val="22373A"/>
                </a:solidFill>
                <a:latin typeface="Cambria"/>
                <a:cs typeface="Cambria"/>
              </a:rPr>
              <a:t>𝑦</a:t>
            </a:r>
            <a:r>
              <a:rPr sz="1650" baseline="-37878" dirty="0">
                <a:solidFill>
                  <a:srgbClr val="22373A"/>
                </a:solidFill>
                <a:latin typeface="Cambria"/>
                <a:cs typeface="Cambria"/>
              </a:rPr>
              <a:t>𝑡</a:t>
            </a:r>
            <a:r>
              <a:rPr sz="1650" spc="300" baseline="-37878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22373A"/>
                </a:solidFill>
                <a:latin typeface="Cambria"/>
                <a:cs typeface="Cambria"/>
              </a:rPr>
              <a:t>=</a:t>
            </a:r>
            <a:r>
              <a:rPr sz="1100" spc="5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95" dirty="0">
                <a:solidFill>
                  <a:srgbClr val="22373A"/>
                </a:solidFill>
                <a:latin typeface="Cambria"/>
                <a:cs typeface="Cambria"/>
              </a:rPr>
              <a:t>−0,</a:t>
            </a:r>
            <a:r>
              <a:rPr sz="1100" spc="-6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77𝑥(𝑡)</a:t>
            </a:r>
            <a:r>
              <a:rPr sz="1100" spc="-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1100" spc="-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0,</a:t>
            </a:r>
            <a:r>
              <a:rPr sz="1100" spc="-6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mbria"/>
                <a:cs typeface="Cambria"/>
              </a:rPr>
              <a:t>45𝑦(𝑡)</a:t>
            </a:r>
            <a:r>
              <a:rPr sz="1100" spc="-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22373A"/>
                </a:solidFill>
                <a:latin typeface="Cambria"/>
                <a:cs typeface="Cambria"/>
              </a:rPr>
              <a:t>+</a:t>
            </a:r>
            <a:r>
              <a:rPr sz="1100" spc="-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cos</a:t>
            </a:r>
            <a:r>
              <a:rPr sz="1100" spc="-9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22373A"/>
                </a:solidFill>
                <a:latin typeface="Cambria"/>
                <a:cs typeface="Cambria"/>
              </a:rPr>
              <a:t>𝑡</a:t>
            </a:r>
            <a:r>
              <a:rPr sz="1100" spc="-1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22373A"/>
                </a:solidFill>
                <a:latin typeface="Cambria"/>
                <a:cs typeface="Cambria"/>
              </a:rPr>
              <a:t>+</a:t>
            </a:r>
            <a:r>
              <a:rPr sz="1100" spc="-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  <a:p>
            <a:pPr marL="50800">
              <a:lnSpc>
                <a:spcPts val="310"/>
              </a:lnSpc>
            </a:pPr>
            <a:r>
              <a:rPr sz="1100" spc="-750" dirty="0">
                <a:solidFill>
                  <a:srgbClr val="22373A"/>
                </a:solidFill>
                <a:latin typeface="Cambria"/>
                <a:cs typeface="Cambria"/>
              </a:rPr>
              <a:t>⎨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pc="-20" dirty="0"/>
              <a:t>15/27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1CF0B37-F9A3-E83C-1632-F0AC67C17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318" y="1223162"/>
            <a:ext cx="2734907" cy="91609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Модель</a:t>
            </a:r>
            <a:r>
              <a:rPr spc="45" dirty="0"/>
              <a:t> </a:t>
            </a:r>
            <a:r>
              <a:rPr dirty="0"/>
              <a:t>боевых</a:t>
            </a:r>
            <a:r>
              <a:rPr spc="50" dirty="0"/>
              <a:t> </a:t>
            </a:r>
            <a:r>
              <a:rPr dirty="0"/>
              <a:t>действий</a:t>
            </a:r>
            <a:r>
              <a:rPr spc="45" dirty="0"/>
              <a:t> </a:t>
            </a:r>
            <a:r>
              <a:rPr dirty="0"/>
              <a:t>с</a:t>
            </a:r>
            <a:r>
              <a:rPr spc="50" dirty="0"/>
              <a:t> </a:t>
            </a:r>
            <a:r>
              <a:rPr dirty="0"/>
              <a:t>участием</a:t>
            </a:r>
            <a:r>
              <a:rPr spc="45" dirty="0"/>
              <a:t> </a:t>
            </a:r>
            <a:r>
              <a:rPr dirty="0"/>
              <a:t>регулярных</a:t>
            </a:r>
            <a:r>
              <a:rPr spc="50" dirty="0"/>
              <a:t> </a:t>
            </a:r>
            <a:r>
              <a:rPr dirty="0"/>
              <a:t>войск</a:t>
            </a:r>
            <a:r>
              <a:rPr spc="45" dirty="0"/>
              <a:t> </a:t>
            </a:r>
            <a:r>
              <a:rPr dirty="0"/>
              <a:t>и</a:t>
            </a:r>
            <a:r>
              <a:rPr spc="50" dirty="0"/>
              <a:t> </a:t>
            </a:r>
            <a:r>
              <a:rPr dirty="0"/>
              <a:t>партизанских</a:t>
            </a:r>
            <a:r>
              <a:rPr spc="45" dirty="0"/>
              <a:t> </a:t>
            </a:r>
            <a:r>
              <a:rPr spc="-10" dirty="0"/>
              <a:t>отрядов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3627120" cy="5080"/>
            </a:xfrm>
            <a:custGeom>
              <a:avLst/>
              <a:gdLst/>
              <a:ahLst/>
              <a:cxnLst/>
              <a:rect l="l" t="t" r="r" b="b"/>
              <a:pathLst>
                <a:path w="3627120" h="5079">
                  <a:moveTo>
                    <a:pt x="0" y="5060"/>
                  </a:moveTo>
                  <a:lnTo>
                    <a:pt x="0" y="0"/>
                  </a:lnTo>
                  <a:lnTo>
                    <a:pt x="3626677" y="0"/>
                  </a:lnTo>
                  <a:lnTo>
                    <a:pt x="362667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347294" y="643409"/>
            <a:ext cx="3622467" cy="1551322"/>
          </a:xfrm>
          <a:prstGeom prst="rect">
            <a:avLst/>
          </a:prstGeom>
        </p:spPr>
        <p:txBody>
          <a:bodyPr vert="horz" wrap="none" lIns="0" tIns="12065" rIns="0" bIns="0" rtlCol="0">
            <a:spAutoFit/>
          </a:bodyPr>
          <a:lstStyle/>
          <a:p>
            <a:pPr marL="292735" marR="1476375" indent="-280670">
              <a:lnSpc>
                <a:spcPct val="144300"/>
              </a:lnSpc>
              <a:spcBef>
                <a:spcPts val="95"/>
              </a:spcBef>
            </a:pPr>
            <a:r>
              <a:rPr lang="en-US" dirty="0">
                <a:solidFill>
                  <a:srgbClr val="007021"/>
                </a:solidFill>
              </a:rPr>
              <a:t>Function</a:t>
            </a:r>
            <a:r>
              <a:rPr lang="en-US" spc="95" dirty="0">
                <a:solidFill>
                  <a:srgbClr val="007021"/>
                </a:solidFill>
              </a:rPr>
              <a:t> </a:t>
            </a:r>
            <a:r>
              <a:rPr lang="en-US" spc="-10" dirty="0">
                <a:solidFill>
                  <a:srgbClr val="05287C"/>
                </a:solidFill>
              </a:rPr>
              <a:t>f1</a:t>
            </a:r>
            <a:r>
              <a:rPr lang="en-US" spc="-10" dirty="0"/>
              <a:t>(du, u, p, t)</a:t>
            </a:r>
            <a:endParaRPr lang="en-US" dirty="0"/>
          </a:p>
          <a:p>
            <a:pPr marL="292735" marR="635000">
              <a:lnSpc>
                <a:spcPct val="144300"/>
              </a:lnSpc>
            </a:pPr>
            <a:r>
              <a:rPr lang="en-US" dirty="0"/>
              <a:t>du[1]</a:t>
            </a:r>
            <a:r>
              <a:rPr lang="en-US" spc="35" dirty="0"/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spc="40" dirty="0">
                <a:solidFill>
                  <a:srgbClr val="666666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/>
              <a:t>0.39*x</a:t>
            </a:r>
            <a:r>
              <a:rPr lang="en-US" spc="40" dirty="0"/>
              <a:t> </a:t>
            </a:r>
            <a:r>
              <a:rPr lang="en-US" spc="40" dirty="0">
                <a:solidFill>
                  <a:srgbClr val="666666"/>
                </a:solidFill>
              </a:rPr>
              <a:t>–</a:t>
            </a:r>
            <a:r>
              <a:rPr lang="en-US" spc="35" dirty="0">
                <a:solidFill>
                  <a:srgbClr val="666666"/>
                </a:solidFill>
              </a:rPr>
              <a:t> </a:t>
            </a:r>
            <a:r>
              <a:rPr lang="en-US" spc="-10" dirty="0">
                <a:solidFill>
                  <a:srgbClr val="05287C"/>
                </a:solidFill>
              </a:rPr>
              <a:t>0.84</a:t>
            </a:r>
            <a:r>
              <a:rPr lang="en-US" spc="-10" dirty="0"/>
              <a:t>y </a:t>
            </a:r>
            <a:r>
              <a:rPr lang="en-US" spc="-10" dirty="0">
                <a:solidFill>
                  <a:srgbClr val="666666"/>
                </a:solidFill>
              </a:rPr>
              <a:t>+ </a:t>
            </a:r>
            <a:r>
              <a:rPr lang="en-US" spc="-10" dirty="0">
                <a:solidFill>
                  <a:srgbClr val="05287C"/>
                </a:solidFill>
              </a:rPr>
              <a:t>abs</a:t>
            </a:r>
            <a:r>
              <a:rPr lang="en-US" spc="-10" dirty="0">
                <a:solidFill>
                  <a:schemeClr val="tx1"/>
                </a:solidFill>
              </a:rPr>
              <a:t>(</a:t>
            </a:r>
            <a:r>
              <a:rPr lang="en-US" spc="-10" dirty="0">
                <a:solidFill>
                  <a:srgbClr val="05287C"/>
                </a:solidFill>
              </a:rPr>
              <a:t>sin</a:t>
            </a:r>
            <a:r>
              <a:rPr lang="en-US" spc="-10" dirty="0">
                <a:solidFill>
                  <a:schemeClr val="tx1"/>
                </a:solidFill>
              </a:rPr>
              <a:t>(2*t))</a:t>
            </a:r>
          </a:p>
          <a:p>
            <a:pPr marL="12700">
              <a:spcBef>
                <a:spcPts val="475"/>
              </a:spcBef>
            </a:pPr>
            <a:r>
              <a:rPr lang="en-US" dirty="0"/>
              <a:t>    du[2]</a:t>
            </a:r>
            <a:r>
              <a:rPr lang="en-US" spc="35" dirty="0"/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spc="40" dirty="0">
                <a:solidFill>
                  <a:srgbClr val="666666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/>
              <a:t>0.44*x</a:t>
            </a:r>
            <a:r>
              <a:rPr lang="en-US" spc="40" dirty="0"/>
              <a:t> </a:t>
            </a:r>
            <a:r>
              <a:rPr lang="en-US" spc="40" dirty="0">
                <a:solidFill>
                  <a:srgbClr val="666666"/>
                </a:solidFill>
              </a:rPr>
              <a:t>–</a:t>
            </a:r>
            <a:r>
              <a:rPr lang="en-US" spc="35" dirty="0">
                <a:solidFill>
                  <a:srgbClr val="666666"/>
                </a:solidFill>
              </a:rPr>
              <a:t> </a:t>
            </a:r>
            <a:r>
              <a:rPr lang="en-US" spc="-10" dirty="0">
                <a:solidFill>
                  <a:srgbClr val="05287C"/>
                </a:solidFill>
              </a:rPr>
              <a:t>0.52</a:t>
            </a:r>
            <a:r>
              <a:rPr lang="en-US" spc="-10" dirty="0"/>
              <a:t>y </a:t>
            </a:r>
            <a:r>
              <a:rPr lang="en-US" spc="-10" dirty="0">
                <a:solidFill>
                  <a:srgbClr val="666666"/>
                </a:solidFill>
              </a:rPr>
              <a:t>+ </a:t>
            </a:r>
            <a:r>
              <a:rPr lang="en-US" spc="-10" dirty="0">
                <a:solidFill>
                  <a:srgbClr val="05287C"/>
                </a:solidFill>
              </a:rPr>
              <a:t>abs</a:t>
            </a:r>
            <a:r>
              <a:rPr lang="en-US" spc="-10" dirty="0">
                <a:solidFill>
                  <a:schemeClr val="tx1"/>
                </a:solidFill>
              </a:rPr>
              <a:t>(</a:t>
            </a:r>
            <a:r>
              <a:rPr lang="en-US" spc="-10" dirty="0">
                <a:solidFill>
                  <a:srgbClr val="05287C"/>
                </a:solidFill>
              </a:rPr>
              <a:t>cos</a:t>
            </a:r>
            <a:r>
              <a:rPr lang="en-US" spc="-10" dirty="0">
                <a:solidFill>
                  <a:schemeClr val="tx1"/>
                </a:solidFill>
              </a:rPr>
              <a:t>(2*t))</a:t>
            </a: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lang="en-US" spc="-25" dirty="0">
                <a:solidFill>
                  <a:srgbClr val="007021"/>
                </a:solidFill>
              </a:rPr>
              <a:t>end</a:t>
            </a:r>
            <a:endParaRPr lang="en-US" dirty="0"/>
          </a:p>
          <a:p>
            <a:pPr marL="12700" marR="5080">
              <a:lnSpc>
                <a:spcPct val="288500"/>
              </a:lnSpc>
              <a:spcBef>
                <a:spcPts val="5"/>
              </a:spcBef>
            </a:pPr>
            <a:r>
              <a:rPr lang="en-US" dirty="0"/>
              <a:t>prob1</a:t>
            </a:r>
            <a:r>
              <a:rPr lang="en-US" spc="110" dirty="0"/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spc="110" dirty="0">
                <a:solidFill>
                  <a:srgbClr val="666666"/>
                </a:solidFill>
              </a:rPr>
              <a:t> </a:t>
            </a:r>
            <a:r>
              <a:rPr lang="en-US" dirty="0" err="1">
                <a:solidFill>
                  <a:srgbClr val="05287C"/>
                </a:solidFill>
              </a:rPr>
              <a:t>ODEProblem</a:t>
            </a:r>
            <a:r>
              <a:rPr lang="en-US" dirty="0"/>
              <a:t>(f1, u0,</a:t>
            </a:r>
            <a:r>
              <a:rPr lang="en-US" spc="110" dirty="0"/>
              <a:t> </a:t>
            </a:r>
            <a:r>
              <a:rPr lang="en-US" spc="-10" dirty="0" err="1"/>
              <a:t>tspan</a:t>
            </a:r>
            <a:r>
              <a:rPr lang="en-US" spc="-10" dirty="0"/>
              <a:t>)</a:t>
            </a:r>
          </a:p>
          <a:p>
            <a:pPr marL="12700" marR="5080">
              <a:lnSpc>
                <a:spcPct val="288500"/>
              </a:lnSpc>
              <a:spcBef>
                <a:spcPts val="5"/>
              </a:spcBef>
            </a:pPr>
            <a:r>
              <a:rPr lang="en-US" dirty="0">
                <a:solidFill>
                  <a:srgbClr val="05287C"/>
                </a:solidFill>
              </a:rPr>
              <a:t>sol = Solve</a:t>
            </a:r>
            <a:r>
              <a:rPr lang="en-US" dirty="0"/>
              <a:t>(pro</a:t>
            </a:r>
            <a:r>
              <a:rPr lang="en-US" spc="-10" dirty="0"/>
              <a:t>b)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pc="-20" dirty="0"/>
              <a:t>17/27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82852"/>
            <a:ext cx="485013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Модель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боевых</a:t>
            </a:r>
            <a:r>
              <a:rPr sz="1000" spc="5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действий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с</a:t>
            </a:r>
            <a:r>
              <a:rPr sz="1000" spc="5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участием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регулярных</a:t>
            </a:r>
            <a:r>
              <a:rPr sz="1000" spc="5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войск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и</a:t>
            </a:r>
            <a:r>
              <a:rPr sz="1000" spc="5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партизанских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отрядов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8793"/>
            <a:ext cx="5760085" cy="2399665"/>
            <a:chOff x="0" y="358793"/>
            <a:chExt cx="5760085" cy="2399665"/>
          </a:xfrm>
        </p:grpSpPr>
        <p:sp>
          <p:nvSpPr>
            <p:cNvPr id="5" name="object 5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8793"/>
              <a:ext cx="4053840" cy="5080"/>
            </a:xfrm>
            <a:custGeom>
              <a:avLst/>
              <a:gdLst/>
              <a:ahLst/>
              <a:cxnLst/>
              <a:rect l="l" t="t" r="r" b="b"/>
              <a:pathLst>
                <a:path w="4053840" h="5079">
                  <a:moveTo>
                    <a:pt x="0" y="5060"/>
                  </a:moveTo>
                  <a:lnTo>
                    <a:pt x="0" y="0"/>
                  </a:lnTo>
                  <a:lnTo>
                    <a:pt x="4053391" y="0"/>
                  </a:lnTo>
                  <a:lnTo>
                    <a:pt x="405339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3" y="405917"/>
              <a:ext cx="3528136" cy="235209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837994" y="2913979"/>
            <a:ext cx="2084070" cy="18097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Рис.</a:t>
            </a:r>
            <a:r>
              <a:rPr sz="8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3:</a:t>
            </a:r>
            <a:r>
              <a:rPr sz="8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Модель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боевых</a:t>
            </a:r>
            <a:r>
              <a:rPr sz="85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действий</a:t>
            </a:r>
            <a:r>
              <a:rPr sz="85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75" dirty="0">
                <a:solidFill>
                  <a:srgbClr val="22373A"/>
                </a:solidFill>
                <a:latin typeface="Tahoma"/>
                <a:cs typeface="Tahoma"/>
              </a:rPr>
              <a:t>№2.</a:t>
            </a:r>
            <a:r>
              <a:rPr sz="85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ahoma"/>
                <a:cs typeface="Tahoma"/>
              </a:rPr>
              <a:t>Julia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pc="-20" dirty="0"/>
              <a:t>19/27</a:t>
            </a:r>
          </a:p>
        </p:txBody>
      </p:sp>
      <p:pic>
        <p:nvPicPr>
          <p:cNvPr id="12" name="Рисунок 11" descr="Изображение выглядит как линия, текст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9A797E-9449-9F27-4B56-AEE27396C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923" y="408439"/>
            <a:ext cx="3766261" cy="236387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82852"/>
            <a:ext cx="485013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Модель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боевых</a:t>
            </a:r>
            <a:r>
              <a:rPr sz="1000" spc="5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действий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с</a:t>
            </a:r>
            <a:r>
              <a:rPr sz="1000" spc="5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участием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регулярных</a:t>
            </a:r>
            <a:r>
              <a:rPr sz="1000" spc="5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войск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и</a:t>
            </a:r>
            <a:r>
              <a:rPr sz="1000" spc="5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партизанских</a:t>
            </a:r>
            <a:r>
              <a:rPr sz="1000" spc="4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отрядов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8793"/>
            <a:ext cx="5760085" cy="2399665"/>
            <a:chOff x="0" y="358793"/>
            <a:chExt cx="5760085" cy="2399665"/>
          </a:xfrm>
        </p:grpSpPr>
        <p:sp>
          <p:nvSpPr>
            <p:cNvPr id="5" name="object 5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8793"/>
              <a:ext cx="4480560" cy="5080"/>
            </a:xfrm>
            <a:custGeom>
              <a:avLst/>
              <a:gdLst/>
              <a:ahLst/>
              <a:cxnLst/>
              <a:rect l="l" t="t" r="r" b="b"/>
              <a:pathLst>
                <a:path w="4480560" h="5079">
                  <a:moveTo>
                    <a:pt x="0" y="5060"/>
                  </a:moveTo>
                  <a:lnTo>
                    <a:pt x="0" y="0"/>
                  </a:lnTo>
                  <a:lnTo>
                    <a:pt x="4480018" y="0"/>
                  </a:lnTo>
                  <a:lnTo>
                    <a:pt x="448001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3" y="405917"/>
              <a:ext cx="3528136" cy="235209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29092" y="2913979"/>
            <a:ext cx="2901950" cy="18097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Рис.</a:t>
            </a:r>
            <a:r>
              <a:rPr sz="8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4:</a:t>
            </a:r>
            <a:r>
              <a:rPr sz="8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Модель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боевых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действий</a:t>
            </a:r>
            <a:r>
              <a:rPr sz="85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65" dirty="0">
                <a:solidFill>
                  <a:srgbClr val="22373A"/>
                </a:solidFill>
                <a:latin typeface="Tahoma"/>
                <a:cs typeface="Tahoma"/>
              </a:rPr>
              <a:t>№2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в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приближении.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ahoma"/>
                <a:cs typeface="Tahoma"/>
              </a:rPr>
              <a:t>Julia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6913" y="2992618"/>
            <a:ext cx="2451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650" spc="-20" dirty="0">
                <a:solidFill>
                  <a:srgbClr val="22373A"/>
                </a:solidFill>
                <a:latin typeface="Tahoma"/>
                <a:cs typeface="Tahoma"/>
              </a:rPr>
              <a:t>21/27</a:t>
            </a:r>
            <a:endParaRPr sz="6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3491" y="1317235"/>
            <a:ext cx="601980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solidFill>
                  <a:srgbClr val="22373A"/>
                </a:solidFill>
                <a:latin typeface="Microsoft Sans Serif"/>
                <a:cs typeface="Microsoft Sans Serif"/>
                <a:hlinkClick r:id="rId2" action="ppaction://hlinksldjump"/>
              </a:rPr>
              <a:t>Выводы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86191" y="1659388"/>
            <a:ext cx="2588260" cy="5080"/>
            <a:chOff x="1586191" y="1659388"/>
            <a:chExt cx="2588260" cy="5080"/>
          </a:xfrm>
        </p:grpSpPr>
        <p:sp>
          <p:nvSpPr>
            <p:cNvPr id="4" name="object 4"/>
            <p:cNvSpPr/>
            <p:nvPr/>
          </p:nvSpPr>
          <p:spPr>
            <a:xfrm>
              <a:off x="1586191" y="1659388"/>
              <a:ext cx="2588260" cy="5080"/>
            </a:xfrm>
            <a:custGeom>
              <a:avLst/>
              <a:gdLst/>
              <a:ahLst/>
              <a:cxnLst/>
              <a:rect l="l" t="t" r="r" b="b"/>
              <a:pathLst>
                <a:path w="2588260" h="5080">
                  <a:moveTo>
                    <a:pt x="0" y="5060"/>
                  </a:moveTo>
                  <a:lnTo>
                    <a:pt x="0" y="0"/>
                  </a:lnTo>
                  <a:lnTo>
                    <a:pt x="2587637" y="0"/>
                  </a:lnTo>
                  <a:lnTo>
                    <a:pt x="25876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6191" y="1659388"/>
              <a:ext cx="2396490" cy="5080"/>
            </a:xfrm>
            <a:custGeom>
              <a:avLst/>
              <a:gdLst/>
              <a:ahLst/>
              <a:cxnLst/>
              <a:rect l="l" t="t" r="r" b="b"/>
              <a:pathLst>
                <a:path w="2396490" h="5080">
                  <a:moveTo>
                    <a:pt x="0" y="5060"/>
                  </a:moveTo>
                  <a:lnTo>
                    <a:pt x="0" y="0"/>
                  </a:lnTo>
                  <a:lnTo>
                    <a:pt x="2395941" y="0"/>
                  </a:lnTo>
                  <a:lnTo>
                    <a:pt x="23959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82852"/>
            <a:ext cx="5060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Выводы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8793"/>
              <a:ext cx="5547360" cy="5080"/>
            </a:xfrm>
            <a:custGeom>
              <a:avLst/>
              <a:gdLst/>
              <a:ahLst/>
              <a:cxnLst/>
              <a:rect l="l" t="t" r="r" b="b"/>
              <a:pathLst>
                <a:path w="5547360" h="5079">
                  <a:moveTo>
                    <a:pt x="0" y="5060"/>
                  </a:moveTo>
                  <a:lnTo>
                    <a:pt x="0" y="0"/>
                  </a:lnTo>
                  <a:lnTo>
                    <a:pt x="5546760" y="0"/>
                  </a:lnTo>
                  <a:lnTo>
                    <a:pt x="55467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7294" y="1591115"/>
            <a:ext cx="3987165" cy="4315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ru-RU" sz="900" dirty="0"/>
              <a:t>В ходе выполнения лабораторной работы я построил математическую модель боевых действий и провел анализ.</a:t>
            </a:r>
          </a:p>
          <a:p>
            <a:endParaRPr lang="ru-RU" sz="90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535</Words>
  <Application>Microsoft Office PowerPoint</Application>
  <PresentationFormat>Произвольный</PresentationFormat>
  <Paragraphs>73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Cambria</vt:lpstr>
      <vt:lpstr>Courier New</vt:lpstr>
      <vt:lpstr>Microsoft Sans Serif</vt:lpstr>
      <vt:lpstr>Tahoma</vt:lpstr>
      <vt:lpstr>Times New Roman</vt:lpstr>
      <vt:lpstr>Office Theme</vt:lpstr>
      <vt:lpstr>Лабораторная работа №3</vt:lpstr>
      <vt:lpstr>Презентация PowerPoint</vt:lpstr>
      <vt:lpstr>Докладчик</vt:lpstr>
      <vt:lpstr>Презентация PowerPoint</vt:lpstr>
      <vt:lpstr>Презентация PowerPoint</vt:lpstr>
      <vt:lpstr>Презентация PowerPoint</vt:lpstr>
      <vt:lpstr>Задачи</vt:lpstr>
      <vt:lpstr>Презентация PowerPoint</vt:lpstr>
      <vt:lpstr>Презентация PowerPoint</vt:lpstr>
      <vt:lpstr>Модель боевых действий между регулярными войсками</vt:lpstr>
      <vt:lpstr>Модель боевых действий между регулярными войсками</vt:lpstr>
      <vt:lpstr>Модель боевых действий между регулярными войсками</vt:lpstr>
      <vt:lpstr>Презентация PowerPoint</vt:lpstr>
      <vt:lpstr>Модель боевых действий с участием регулярных войск и партизанских отрядов</vt:lpstr>
      <vt:lpstr>Модель боевых действий с участием регулярных войск и партизанских отрядов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№3 - Модель боевых действий</dc:title>
  <dc:creator>Демидова Е. А.</dc:creator>
  <cp:lastModifiedBy>Никита Сахно</cp:lastModifiedBy>
  <cp:revision>2</cp:revision>
  <dcterms:created xsi:type="dcterms:W3CDTF">2026-03-20T20:29:50Z</dcterms:created>
  <dcterms:modified xsi:type="dcterms:W3CDTF">2026-03-20T20:46:04Z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2024-02-21T00:00:00Z</vt:filetime>
  </property>
  <property fmtid="{D5CDD505-2E9C-101B-9397-08002B2CF9AE}" pid="3" name="Creator">
    <vt:lpwstr>LaTeX via pandoc</vt:lpwstr>
  </property>
  <property fmtid="{D5CDD505-2E9C-101B-9397-08002B2CF9AE}" pid="4" name="LastSaved">
    <vt:filetime>2026-03-20T00:00:00Z</vt:filetime>
  </property>
  <property fmtid="{D5CDD505-2E9C-101B-9397-08002B2CF9AE}" pid="5" name="PTEX.FullBanner">
    <vt:lpwstr>This is LuaHBTeX, Version 1.14.0 (TeX Live 2022/dev/Debian)</vt:lpwstr>
  </property>
  <property fmtid="{D5CDD505-2E9C-101B-9397-08002B2CF9AE}" pid="6" name="Producer">
    <vt:lpwstr>LuaTeX-1.14.0</vt:lpwstr>
  </property>
</Properties>
</file>