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1" r:id="rId5"/>
    <p:sldId id="262" r:id="rId6"/>
    <p:sldId id="273" r:id="rId7"/>
    <p:sldId id="274" r:id="rId8"/>
    <p:sldId id="275" r:id="rId9"/>
    <p:sldId id="276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0608-14D1-4C76-9F62-91152B5CD37A}" v="24" dt="2026-10-07T11:13:14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№5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/>
              <a:t>Математическое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Целью работы является исследование математической модели</a:t>
            </a:r>
          </a:p>
          <a:p>
            <a:r>
              <a:rPr lang="ru-RU" dirty="0"/>
              <a:t>«хищник — жертва», выполнение численного решения системы</a:t>
            </a:r>
          </a:p>
          <a:p>
            <a:r>
              <a:rPr lang="ru-RU" dirty="0"/>
              <a:t>дифференциальных уравнений в среде </a:t>
            </a:r>
            <a:r>
              <a:rPr lang="ru-RU" dirty="0" err="1"/>
              <a:t>Julia</a:t>
            </a:r>
            <a:r>
              <a:rPr lang="ru-RU" dirty="0"/>
              <a:t>, построение графиков</a:t>
            </a:r>
          </a:p>
          <a:p>
            <a:r>
              <a:rPr lang="ru-RU" dirty="0"/>
              <a:t>изменения численности хищников и жертв во времени и фазового</a:t>
            </a:r>
          </a:p>
          <a:p>
            <a:r>
              <a:rPr lang="ru-RU" dirty="0"/>
              <a:t>портрета, а также нахождение стационарного состояния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ru-RU" dirty="0"/>
              <a:t>Постройте график зависимости численности хищников от численности жертв,</a:t>
            </a:r>
          </a:p>
          <a:p>
            <a:r>
              <a:rPr lang="ru-RU" dirty="0"/>
              <a:t>а также графики изменения численности хищников и численности жертв. Найдите стационарное состояние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Исходные данные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D767984-F04B-9740-1265-131623DB2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5" y="2218579"/>
            <a:ext cx="3690257" cy="3670180"/>
          </a:xfrm>
        </p:spPr>
        <p:txBody>
          <a:bodyPr>
            <a:normAutofit/>
          </a:bodyPr>
          <a:lstStyle/>
          <a:p>
            <a:pPr lvl="0"/>
            <a:r>
              <a:rPr lang="pt-BR" dirty="0"/>
              <a:t>a = 0.76</a:t>
            </a:r>
          </a:p>
          <a:p>
            <a:pPr lvl="0"/>
            <a:r>
              <a:rPr lang="pt-BR" dirty="0"/>
              <a:t>b = 0.082</a:t>
            </a:r>
          </a:p>
          <a:p>
            <a:pPr lvl="0"/>
            <a:r>
              <a:rPr lang="pt-BR" dirty="0"/>
              <a:t>c = 0.62</a:t>
            </a:r>
          </a:p>
          <a:p>
            <a:pPr lvl="0"/>
            <a:r>
              <a:rPr lang="pt-BR" dirty="0"/>
              <a:t>d = 0.039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Математическая модель</a:t>
            </a:r>
          </a:p>
          <a:p>
            <a:pPr marL="0" indent="0">
              <a:buNone/>
            </a:pPr>
            <a:r>
              <a:rPr lang="es-ES" dirty="0"/>
              <a:t>dx/dt = -0.76x + 0.082xy</a:t>
            </a:r>
          </a:p>
          <a:p>
            <a:pPr marL="0" indent="0">
              <a:buNone/>
            </a:pPr>
            <a:r>
              <a:rPr lang="es-ES" dirty="0"/>
              <a:t>dy/dt =  0.62y - 0.039xy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Параметры </a:t>
            </a:r>
            <a:r>
              <a:rPr lang="ru-RU" dirty="0" err="1"/>
              <a:t>рассчета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t ∈ [0; 400]</a:t>
            </a:r>
          </a:p>
          <a:p>
            <a:pPr marL="0" indent="0">
              <a:buNone/>
            </a:pPr>
            <a:r>
              <a:rPr lang="el-GR" dirty="0"/>
              <a:t>Δ</a:t>
            </a:r>
            <a:r>
              <a:rPr lang="en-US" dirty="0"/>
              <a:t>t = 0.1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BF2C0-4AFA-1B45-8A5D-D8CB79CD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5B9F1CA-BB1A-C34D-C094-C9DDBA4FF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956" y="2107248"/>
            <a:ext cx="3598144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07FDCF4-301D-E528-420A-B012D1722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949" y="1846263"/>
            <a:ext cx="334842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75FF2C1-EC1E-D8B3-212B-FF5167986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260" y="2069884"/>
            <a:ext cx="5715000" cy="381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7A3498-D8E7-30E3-9A39-FF5D24498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40" y="2069884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16B500B-561C-1279-E3FB-3A7CC92B2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663" y="1952625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450968C4-A5C3-3899-618C-EC74F33430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В ходе лабораторной работы была исследована математическая модель «хищник — жертва» для варианта 49. </a:t>
                </a:r>
                <a:r>
                  <a:rPr lang="en-US" dirty="0" err="1"/>
                  <a:t>Система</a:t>
                </a:r>
                <a:r>
                  <a:rPr lang="en-US" dirty="0"/>
                  <a:t> </a:t>
                </a:r>
                <a:r>
                  <a:rPr lang="en-US" dirty="0" err="1"/>
                  <a:t>дифференциальных</a:t>
                </a:r>
                <a:r>
                  <a:rPr lang="en-US" dirty="0"/>
                  <a:t> </a:t>
                </a:r>
                <a:r>
                  <a:rPr lang="en-US" dirty="0" err="1"/>
                  <a:t>уравнений</a:t>
                </a:r>
                <a:r>
                  <a:rPr lang="en-US" dirty="0"/>
                  <a:t> </a:t>
                </a:r>
                <a:r>
                  <a:rPr lang="en-US" dirty="0" err="1"/>
                  <a:t>была</a:t>
                </a:r>
                <a:r>
                  <a:rPr lang="en-US" dirty="0"/>
                  <a:t> </a:t>
                </a:r>
                <a:r>
                  <a:rPr lang="en-US" dirty="0" err="1"/>
                  <a:t>реализована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языке</a:t>
                </a:r>
                <a:r>
                  <a:rPr lang="en-US" dirty="0"/>
                  <a:t> Julia и </a:t>
                </a:r>
                <a:r>
                  <a:rPr lang="en-US" dirty="0" err="1"/>
                  <a:t>решена</a:t>
                </a:r>
                <a:r>
                  <a:rPr lang="en-US" dirty="0"/>
                  <a:t> </a:t>
                </a:r>
                <a:r>
                  <a:rPr lang="en-US" dirty="0" err="1"/>
                  <a:t>численным</a:t>
                </a:r>
                <a:r>
                  <a:rPr lang="en-US" dirty="0"/>
                  <a:t> </a:t>
                </a:r>
                <a:r>
                  <a:rPr lang="en-US" dirty="0" err="1"/>
                  <a:t>методом</a:t>
                </a:r>
                <a:r>
                  <a:rPr lang="en-US" dirty="0"/>
                  <a:t>.</a:t>
                </a:r>
                <a:endParaRPr lang="ru-RU" dirty="0"/>
              </a:p>
              <a:p>
                <a:r>
                  <a:rPr lang="ru-RU" dirty="0"/>
                  <a:t>Были построены графики изменения численности хищников и жертв во времени, а также фазовый портрет системы. </a:t>
                </a:r>
                <a:r>
                  <a:rPr lang="en-US" dirty="0" err="1"/>
                  <a:t>Найдены</a:t>
                </a:r>
                <a:r>
                  <a:rPr lang="en-US" dirty="0"/>
                  <a:t> </a:t>
                </a:r>
                <a:r>
                  <a:rPr lang="en-US" dirty="0" err="1"/>
                  <a:t>два</a:t>
                </a:r>
                <a:r>
                  <a:rPr lang="en-US" dirty="0"/>
                  <a:t> </a:t>
                </a:r>
                <a:r>
                  <a:rPr lang="en-US" dirty="0" err="1"/>
                  <a:t>стационарных</a:t>
                </a:r>
                <a:r>
                  <a:rPr lang="en-US" dirty="0"/>
                  <a:t> </a:t>
                </a:r>
                <a:r>
                  <a:rPr lang="en-US" dirty="0" err="1"/>
                  <a:t>состояния</a:t>
                </a:r>
                <a:r>
                  <a:rPr lang="en-US" dirty="0"/>
                  <a:t>: </a:t>
                </a:r>
                <a:r>
                  <a:rPr lang="en-US" dirty="0" err="1"/>
                  <a:t>тривиальное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/>
                      <m:t>(</m:t>
                    </m:r>
                    <m:r>
                      <a:rPr lang="ru-RU" i="1"/>
                      <m:t>0</m:t>
                    </m:r>
                    <m:r>
                      <a:rPr lang="ru-RU"/>
                      <m:t>,</m:t>
                    </m:r>
                    <m:r>
                      <a:rPr lang="ru-RU" i="1"/>
                      <m:t>0</m:t>
                    </m:r>
                    <m:r>
                      <a:rPr lang="ru-RU"/>
                      <m:t>)</m:t>
                    </m:r>
                  </m:oMath>
                </a14:m>
                <a:r>
                  <a:rPr lang="en-US" dirty="0"/>
                  <a:t> и </a:t>
                </a:r>
                <a:r>
                  <a:rPr lang="en-US" dirty="0" err="1"/>
                  <a:t>нетривиальное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ru-RU"/>
                      <m:t>(</m:t>
                    </m:r>
                    <m:sSup>
                      <m:sSupPr>
                        <m:ctrlPr>
                          <a:rPr lang="ru-RU" i="1"/>
                        </m:ctrlPr>
                      </m:sSupPr>
                      <m:e>
                        <m:r>
                          <a:rPr lang="ru-RU" i="1"/>
                          <m:t>𝑥</m:t>
                        </m:r>
                      </m:e>
                      <m:sup>
                        <m:r>
                          <a:rPr lang="ru-RU"/>
                          <m:t>∗</m:t>
                        </m:r>
                      </m:sup>
                    </m:sSup>
                    <m:r>
                      <a:rPr lang="ru-RU"/>
                      <m:t>,</m:t>
                    </m:r>
                    <m:sSup>
                      <m:sSupPr>
                        <m:ctrlPr>
                          <a:rPr lang="ru-RU" i="1"/>
                        </m:ctrlPr>
                      </m:sSupPr>
                      <m:e>
                        <m:r>
                          <a:rPr lang="ru-RU" i="1"/>
                          <m:t>𝑦</m:t>
                        </m:r>
                      </m:e>
                      <m:sup>
                        <m:r>
                          <a:rPr lang="ru-RU"/>
                          <m:t>∗</m:t>
                        </m:r>
                      </m:sup>
                    </m:sSup>
                    <m:r>
                      <a:rPr lang="ru-RU"/>
                      <m:t>)=(</m:t>
                    </m:r>
                    <m:r>
                      <a:rPr lang="ru-RU" i="1"/>
                      <m:t>15.897435897435898</m:t>
                    </m:r>
                    <m:r>
                      <a:rPr lang="ru-RU"/>
                      <m:t>,</m:t>
                    </m:r>
                    <m:r>
                      <a:rPr lang="ru-RU" i="1"/>
                      <m:t> 9.268292682926829</m:t>
                    </m:r>
                    <m:r>
                      <a:rPr lang="ru-RU"/>
                      <m:t>).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Проведённый анализ показывает, что математическая модель позволяет наглядно исследовать взаимное влияние популяций хищников и жертв и характер изменения их численности во времени.</a:t>
                </a:r>
              </a:p>
            </p:txBody>
          </p:sp>
        </mc:Choice>
        <mc:Fallback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450968C4-A5C3-3899-618C-EC74F33430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226</Words>
  <Application>Microsoft Office PowerPoint</Application>
  <PresentationFormat>Широкоэкранный</PresentationFormat>
  <Paragraphs>34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Ретро</vt:lpstr>
      <vt:lpstr>Лабораторная работа №5  Математическое моделирование </vt:lpstr>
      <vt:lpstr>Цель</vt:lpstr>
      <vt:lpstr>Задачи</vt:lpstr>
      <vt:lpstr>Исходные данные</vt:lpstr>
      <vt:lpstr>Выполнение</vt:lpstr>
      <vt:lpstr>Выполнение</vt:lpstr>
      <vt:lpstr>Выполнение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2026-10-07T11:13:49Z</dcterms:modified>
</cp:coreProperties>
</file>